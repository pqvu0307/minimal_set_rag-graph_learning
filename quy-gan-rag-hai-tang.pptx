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6" r:id="rId4"/>
    <p:sldId id="260" r:id="rId5"/>
    <p:sldId id="262" r:id="rId6"/>
    <p:sldId id="263" r:id="rId7"/>
    <p:sldId id="277" r:id="rId8"/>
    <p:sldId id="289" r:id="rId9"/>
    <p:sldId id="290" r:id="rId10"/>
    <p:sldId id="278" r:id="rId11"/>
    <p:sldId id="287" r:id="rId12"/>
    <p:sldId id="288" r:id="rId13"/>
    <p:sldId id="279" r:id="rId14"/>
    <p:sldId id="259" r:id="rId15"/>
    <p:sldId id="264" r:id="rId16"/>
    <p:sldId id="265" r:id="rId17"/>
    <p:sldId id="266" r:id="rId18"/>
    <p:sldId id="267" r:id="rId19"/>
    <p:sldId id="280" r:id="rId20"/>
    <p:sldId id="281" r:id="rId21"/>
    <p:sldId id="268" r:id="rId22"/>
    <p:sldId id="269" r:id="rId23"/>
    <p:sldId id="282" r:id="rId24"/>
    <p:sldId id="276" r:id="rId25"/>
    <p:sldId id="270" r:id="rId26"/>
    <p:sldId id="283" r:id="rId27"/>
    <p:sldId id="284" r:id="rId28"/>
    <p:sldId id="271" r:id="rId29"/>
    <p:sldId id="272" r:id="rId30"/>
    <p:sldId id="285" r:id="rId31"/>
    <p:sldId id="273" r:id="rId32"/>
    <p:sldId id="274" r:id="rId33"/>
    <p:sldId id="27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10241280" cy="91440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Quy gán nguồn cho RAG hai tầng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10241280" cy="82296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C8D6F0"/>
                </a:solidFill>
                <a:latin typeface="Arial"/>
              </a:rPr>
              <a:t>Shapley ở tầng sinh  ·  Integrated Gradients trên đồ thị ở tầng truy hồi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10241280" cy="128016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8D6F0"/>
                </a:solidFill>
                <a:latin typeface="Arial"/>
              </a:rPr>
              <a:t>Câu hỏi:  trong các đoạn được truy hồi, đoạn nào thật sự tạo ra câu trả lời —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8D6F0"/>
                </a:solidFill>
                <a:latin typeface="Arial"/>
              </a:rPr>
              <a:t>và đáng lẽ retriever phải đi lối nào trong đồ thị để tới các đoạn đó?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806440"/>
            <a:ext cx="10241280" cy="36576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772E"/>
                </a:solidFill>
                <a:latin typeface="Arial"/>
              </a:rPr>
              <a:t>Tài liệu thiết kế · chưa có kết quả thực nghiệm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" rIns="73152" bIns="18288" rtlCol="0" anchor="ctr"/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Bài toán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Động cơ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2/33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333333"/>
                </a:solidFill>
                <a:latin typeface="Arial"/>
              </a:rPr>
              <a:t>Mô hình trả lời xong. Ta đưa cho nó tới 60 đoạn truy hồi. Đoạn nào thật sự tạo ra câu trả lời đó?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603504" cy="384048"/>
          </a:xfrm>
          <a:prstGeom prst="roundRect">
            <a:avLst>
              <a:gd name="adj" fmla="val 33333"/>
            </a:avLst>
          </a:prstGeom>
          <a:solidFill>
            <a:srgbClr val="E8F0FC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1600200"/>
            <a:ext cx="530352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0E3F92"/>
                </a:solidFill>
                <a:latin typeface="Arial"/>
              </a:rPr>
              <a:t>D₁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3312" y="1600200"/>
            <a:ext cx="603504" cy="384048"/>
          </a:xfrm>
          <a:prstGeom prst="roundRect">
            <a:avLst>
              <a:gd name="adj" fmla="val 33333"/>
            </a:avLst>
          </a:prstGeom>
          <a:solidFill>
            <a:srgbClr val="E8F0FC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9888" y="1600200"/>
            <a:ext cx="530352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0E3F92"/>
                </a:solidFill>
                <a:latin typeface="Arial"/>
              </a:rPr>
              <a:t>D₂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66543" y="1600200"/>
            <a:ext cx="603504" cy="384048"/>
          </a:xfrm>
          <a:prstGeom prst="roundRect">
            <a:avLst>
              <a:gd name="adj" fmla="val 33333"/>
            </a:avLst>
          </a:prstGeom>
          <a:solidFill>
            <a:srgbClr val="E8F0FC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03120" y="1600200"/>
            <a:ext cx="530352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0E3F92"/>
                </a:solidFill>
                <a:latin typeface="Arial"/>
              </a:rPr>
              <a:t>D₃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9776" y="1600200"/>
            <a:ext cx="603504" cy="384048"/>
          </a:xfrm>
          <a:prstGeom prst="roundRect">
            <a:avLst>
              <a:gd name="adj" fmla="val 33333"/>
            </a:avLst>
          </a:prstGeom>
          <a:solidFill>
            <a:srgbClr val="E8F0FC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16352" y="1600200"/>
            <a:ext cx="530352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0E3F92"/>
                </a:solidFill>
                <a:latin typeface="Arial"/>
              </a:rPr>
              <a:t>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1600200"/>
            <a:ext cx="603504" cy="384048"/>
          </a:xfrm>
          <a:prstGeom prst="roundRect">
            <a:avLst>
              <a:gd name="adj" fmla="val 33333"/>
            </a:avLst>
          </a:prstGeom>
          <a:solidFill>
            <a:srgbClr val="E8F0FC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9584" y="1600200"/>
            <a:ext cx="530352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0E3F92"/>
                </a:solidFill>
                <a:latin typeface="Arial"/>
              </a:rPr>
              <a:t>D₆₀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15968" y="1741932"/>
            <a:ext cx="274320" cy="10058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9160" y="1554480"/>
            <a:ext cx="1371600" cy="475488"/>
          </a:xfrm>
          <a:prstGeom prst="roundRect">
            <a:avLst>
              <a:gd name="adj" fmla="val 26923"/>
            </a:avLst>
          </a:prstGeom>
          <a:solidFill>
            <a:srgbClr val="0E3F92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45736" y="1554480"/>
            <a:ext cx="1298448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LLM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99632" y="1741932"/>
            <a:ext cx="274320" cy="10058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0" y="1554480"/>
            <a:ext cx="228600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0256" y="1554480"/>
            <a:ext cx="2212848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câu trả lời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606040"/>
            <a:ext cx="5349240" cy="2478024"/>
          </a:xfrm>
          <a:prstGeom prst="roundRect">
            <a:avLst>
              <a:gd name="adj" fmla="val 5166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260604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278892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262432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Khó ở chỗ thứ nhất — dư thừa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1" y="3008376"/>
            <a:ext cx="5166359" cy="202082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Ba đoạn cùng nói một ý thì không thể tính công đầy đủ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cho cả ba. Như vậy là cộng khống.</a:t>
            </a:r>
          </a:p>
          <a:p>
            <a:pPr algn="l">
              <a:spcAft>
                <a:spcPts val="300"/>
              </a:spcAft>
            </a:pPr>
            <a:endParaRPr sz="14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Và bỏ riêng từng đoạn thì mất rất ít — nên phép thử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«bỏ một đoạn» cũng không phát hiện được.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2606040"/>
            <a:ext cx="5349240" cy="2478024"/>
          </a:xfrm>
          <a:prstGeom prst="roundRect">
            <a:avLst>
              <a:gd name="adj" fmla="val 5166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99632" y="260604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99632" y="278892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36208" y="262432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Khó ở chỗ thứ hai — chi phí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008376"/>
            <a:ext cx="5166359" cy="202082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Cách công bằng về mặt toán học là giá trị Shapley: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thử mọi tổ hợp đoạn.</a:t>
            </a:r>
          </a:p>
          <a:p>
            <a:pPr algn="l">
              <a:spcAft>
                <a:spcPts val="300"/>
              </a:spcAft>
            </a:pPr>
            <a:endParaRPr sz="14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Với K = 60 đoạn, đó là 2</a:t>
            </a:r>
            <a:r>
              <a:rPr sz="1400" b="0" baseline="30000">
                <a:solidFill>
                  <a:srgbClr val="333333"/>
                </a:solidFill>
                <a:latin typeface="Arial"/>
              </a:rPr>
              <a:t>60</a:t>
            </a:r>
            <a:r>
              <a:rPr sz="1400" b="0">
                <a:solidFill>
                  <a:srgbClr val="333333"/>
                </a:solidFill>
                <a:latin typeface="Arial"/>
              </a:rPr>
              <a:t> ≈ 10</a:t>
            </a:r>
            <a:r>
              <a:rPr sz="1400" b="0" baseline="30000">
                <a:solidFill>
                  <a:srgbClr val="333333"/>
                </a:solidFill>
                <a:latin typeface="Arial"/>
              </a:rPr>
              <a:t>18</a:t>
            </a:r>
            <a:r>
              <a:rPr sz="1400" b="0">
                <a:solidFill>
                  <a:srgbClr val="333333"/>
                </a:solidFill>
                <a:latin typeface="Arial"/>
              </a:rPr>
              <a:t> lượt chạy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mô hình. Không khả thi.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tài liệu thiết kế §1, §3.1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Nền: lý thuyết trò chơi hợp tác, trong một ví dụ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3/33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349240" cy="1517904"/>
          </a:xfrm>
          <a:prstGeom prst="roundRect">
            <a:avLst>
              <a:gd name="adj" fmla="val 843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91440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Cầu nối: đoạn văn là người chơi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98448"/>
            <a:ext cx="5129783" cy="11887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người chơi      một đoạn văn trong pool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liên minh S     một tập đoạn  (có 2^n tập)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hàm đặc trưng   v(S) = chất lượng câu trả lời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            khi chỉ đưa S cho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914400"/>
            <a:ext cx="5349240" cy="1517904"/>
          </a:xfrm>
          <a:prstGeom prst="roundRect">
            <a:avLst>
              <a:gd name="adj" fmla="val 843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2" y="91440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Đặt ngưỡng → trò chơi thắng / thua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298448"/>
            <a:ext cx="5129783" cy="1139799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onsolas"/>
              </a:rPr>
              <a:t>S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thắng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  &lt;=&gt;   v(S) &gt;= </a:t>
            </a:r>
            <a:r>
              <a:rPr lang="vi-VN" sz="1300" b="0" dirty="0">
                <a:solidFill>
                  <a:srgbClr val="333333"/>
                </a:solidFill>
                <a:latin typeface="Consolas"/>
              </a:rPr>
              <a:t>tau*v(full_context)</a:t>
            </a:r>
            <a:endParaRPr sz="1300" b="0" dirty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onsolas"/>
              </a:rPr>
              <a:t>                "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chừng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này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đoạn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là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đủ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"</a:t>
            </a:r>
          </a:p>
          <a:p>
            <a:pPr algn="l">
              <a:spcAft>
                <a:spcPts val="200"/>
              </a:spcAft>
            </a:pPr>
            <a:endParaRPr sz="1300" b="0" dirty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Consolas"/>
              </a:rPr>
              <a:t>liên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minh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thắng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tối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tiểu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 (MWC)</a:t>
            </a: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thắng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,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mà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bỏ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ai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cũng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thành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thua</a:t>
            </a:r>
            <a:endParaRPr sz="1300" b="0" dirty="0">
              <a:solidFill>
                <a:srgbClr val="333333"/>
              </a:solidFill>
              <a:latin typeface="Consola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2542032"/>
            <a:ext cx="5349240" cy="1810512"/>
          </a:xfrm>
          <a:prstGeom prst="roundRect">
            <a:avLst>
              <a:gd name="adj" fmla="val 707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2542032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724912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Ví dụ ba đoạn a, b,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926079"/>
            <a:ext cx="5129783" cy="136550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onsolas"/>
              </a:rPr>
              <a:t>v(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rỗng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)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thua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  v(a)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thua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  v(b)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thua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  v(c)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thua</a:t>
            </a:r>
            <a:endParaRPr sz="1300" b="0" dirty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onsolas"/>
              </a:rPr>
              <a:t>v(ab) thắng    v(ac) thắng</a:t>
            </a: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onsolas"/>
              </a:rPr>
              <a:t>v(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bc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)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thua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    v(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abc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) thắng</a:t>
            </a: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onsolas"/>
              </a:rPr>
              <a:t>MWC  =  {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a,b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} 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và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 {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a,c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}</a:t>
            </a: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onsolas"/>
              </a:rPr>
              <a:t>{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a,b,c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}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thắng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nhưng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không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tối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tiểu</a:t>
            </a:r>
            <a:endParaRPr sz="1300" b="0" dirty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Consolas"/>
              </a:rPr>
              <a:t>—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bỏ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c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vẫn</a:t>
            </a:r>
            <a:r>
              <a:rPr sz="13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Consolas"/>
              </a:rPr>
              <a:t>thắng</a:t>
            </a:r>
            <a:endParaRPr sz="1300" b="0" dirty="0">
              <a:solidFill>
                <a:srgbClr val="333333"/>
              </a:solidFill>
              <a:latin typeface="Consola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99632" y="2542032"/>
            <a:ext cx="5349240" cy="1810512"/>
          </a:xfrm>
          <a:prstGeom prst="roundRect">
            <a:avLst>
              <a:gd name="adj" fmla="val 707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99632" y="2542032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2724912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2560320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Ba chỉ số, cùng một kết luận: a là then chốt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26079"/>
            <a:ext cx="5129783" cy="148132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PGI        tỉ lệ MWC có chứa 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a: 1       b: 1/2     c: 1/2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Deegan-P   chia đều trong mỗi MWC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a: 1/2     b: 1/4     c: 1/4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Banzhaf    tỉ lệ swing (thua -&gt; thắng)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a: 3/4     b: 1/4     c: 1/4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62272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" y="4480560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Shapley — và vì sao tài liệu này không dùng nó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91456"/>
            <a:ext cx="10908792" cy="1380744"/>
          </a:xfrm>
          <a:prstGeom prst="roundRect">
            <a:avLst>
              <a:gd name="adj" fmla="val 11666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882896"/>
            <a:ext cx="10424160" cy="106070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dirty="0" err="1">
                <a:solidFill>
                  <a:srgbClr val="333333"/>
                </a:solidFill>
                <a:latin typeface="Arial"/>
              </a:rPr>
              <a:t>φ</a:t>
            </a:r>
            <a:r>
              <a:rPr sz="1400" b="0" baseline="-25000" dirty="0" err="1">
                <a:solidFill>
                  <a:srgbClr val="333333"/>
                </a:solidFill>
                <a:latin typeface="Arial"/>
              </a:rPr>
              <a:t>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=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đóng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góp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biên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trung bình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của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trên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mọi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thứ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tự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xuất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hiện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.   Σ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φ</a:t>
            </a:r>
            <a:r>
              <a:rPr sz="1400" b="0" baseline="-25000" dirty="0" err="1">
                <a:solidFill>
                  <a:srgbClr val="333333"/>
                </a:solidFill>
                <a:latin typeface="Arial"/>
              </a:rPr>
              <a:t>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= v(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toàn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bộ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) − v(∅)   ←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tiên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đề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đầy đủ</a:t>
            </a:r>
          </a:p>
          <a:p>
            <a:pPr algn="l">
              <a:spcAft>
                <a:spcPts val="200"/>
              </a:spcAft>
            </a:pPr>
            <a:r>
              <a:rPr sz="1400" b="0" dirty="0">
                <a:solidFill>
                  <a:srgbClr val="333333"/>
                </a:solidFill>
                <a:latin typeface="Arial"/>
              </a:rPr>
              <a:t>Công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bằng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theo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tiên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đề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nhưng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cần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duyệt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2</a:t>
            </a:r>
            <a:r>
              <a:rPr sz="1400" b="0" baseline="30000" dirty="0">
                <a:solidFill>
                  <a:srgbClr val="333333"/>
                </a:solidFill>
                <a:latin typeface="Arial"/>
              </a:rPr>
              <a:t>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liên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minh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—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với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n = 40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là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bất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khả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thi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1400" b="0" dirty="0" err="1">
                <a:solidFill>
                  <a:srgbClr val="333333"/>
                </a:solidFill>
                <a:latin typeface="Arial"/>
              </a:rPr>
              <a:t>Và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câu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ta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cần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không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phải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chia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mà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là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chọn: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tập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nào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là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đủ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. 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Bản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Shapley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giữ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ở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tài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liệu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riêng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1400" b="0" dirty="0">
                <a:solidFill>
                  <a:srgbClr val="333333"/>
                </a:solidFill>
                <a:latin typeface="Arial"/>
              </a:rPr>
              <a:t>trội Pareto — A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tốt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hơn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hoặc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bằng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B ở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mọi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tiêu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chí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thì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B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bị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loại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.   đơn điệu —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thêm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người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chơi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không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làm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thắng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thành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thua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; ta không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có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Toàn cảnh — hai tầng, hai câu hỏi khác nhau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4/33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051560"/>
            <a:ext cx="384048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97096" y="1051560"/>
            <a:ext cx="3767328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truy vấn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30468" y="1435607"/>
            <a:ext cx="100584" cy="237744"/>
          </a:xfrm>
          <a:prstGeom prst="down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60520" y="1691639"/>
            <a:ext cx="384048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97096" y="1691639"/>
            <a:ext cx="3767328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Arial"/>
              </a:rPr>
              <a:t>truy hồi rộng  ·  K ≤ 60 → rerank theo nguồn → n = 40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30468" y="2075688"/>
            <a:ext cx="100584" cy="237744"/>
          </a:xfrm>
          <a:prstGeom prst="down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34640" y="2331720"/>
            <a:ext cx="6492240" cy="566928"/>
          </a:xfrm>
          <a:prstGeom prst="roundRect">
            <a:avLst>
              <a:gd name="adj" fmla="val 22580"/>
            </a:avLst>
          </a:prstGeom>
          <a:solidFill>
            <a:srgbClr val="E8F0FC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71216" y="2331720"/>
            <a:ext cx="6419088" cy="56692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E3F92"/>
                </a:solidFill>
                <a:latin typeface="Arial"/>
              </a:rPr>
              <a:t>Tầng A — tập đủ tối tiểu trên LLM sinh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E3F92"/>
                </a:solidFill>
                <a:latin typeface="Arial"/>
              </a:rPr>
              <a:t>bốn vòng → g_θ → beam search → S*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030468" y="2898648"/>
            <a:ext cx="100584" cy="237744"/>
          </a:xfrm>
          <a:prstGeom prst="down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60520" y="3154679"/>
            <a:ext cx="384048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97096" y="3154679"/>
            <a:ext cx="3767328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tập đích  T = S* = { D₂, D₇, D₁₅ }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030468" y="3538727"/>
            <a:ext cx="100584" cy="237744"/>
          </a:xfrm>
          <a:prstGeom prst="down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34640" y="3794759"/>
            <a:ext cx="6492240" cy="566928"/>
          </a:xfrm>
          <a:prstGeom prst="roundRect">
            <a:avLst>
              <a:gd name="adj" fmla="val 22580"/>
            </a:avLst>
          </a:prstGeom>
          <a:solidFill>
            <a:srgbClr val="E8F0FC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71216" y="3794759"/>
            <a:ext cx="6419088" cy="56692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E3F92"/>
                </a:solidFill>
                <a:latin typeface="Arial"/>
              </a:rPr>
              <a:t>Tầng B — IG trên GFM truy hồi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E3F92"/>
                </a:solidFill>
                <a:latin typeface="Arial"/>
              </a:rPr>
              <a:t>gate cạnh → điểm cạnh → quy hoạch động trên DAG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30468" y="4361688"/>
            <a:ext cx="100584" cy="237744"/>
          </a:xfrm>
          <a:prstGeom prst="down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60520" y="4617720"/>
            <a:ext cx="384048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97096" y="4617720"/>
            <a:ext cx="3767328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kiểm chứng bằng ablation  →  nhãn train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1051560"/>
            <a:ext cx="2011680" cy="1243584"/>
          </a:xfrm>
          <a:prstGeom prst="roundRect">
            <a:avLst>
              <a:gd name="adj" fmla="val 10294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1051560"/>
            <a:ext cx="201168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1234439"/>
            <a:ext cx="201168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1069848"/>
            <a:ext cx="192024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Tầng A hỏi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1" y="1453895"/>
            <a:ext cx="1828800" cy="78638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Tập nào đủ và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tối tiểu?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1051560"/>
            <a:ext cx="2011680" cy="1243584"/>
          </a:xfrm>
          <a:prstGeom prst="roundRect">
            <a:avLst>
              <a:gd name="adj" fmla="val 10294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537192" y="1051560"/>
            <a:ext cx="201168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537192" y="1234439"/>
            <a:ext cx="201168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73767" y="1069848"/>
            <a:ext cx="192024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Tầng B hỏi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0344" y="1453895"/>
            <a:ext cx="1828800" cy="78638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Đáng lẽ phải đi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lối nào tới đó?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Phần đắt nằm hết ở offline. Lúc chạy thật: truy vấn → GFM đã train → đoạn → LLM → trả lời.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§1, sơ đồ luồng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A · pha 1 — bốn vòng thu thập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5/33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08009"/>
            <a:ext cx="10972800" cy="43891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dirty="0" err="1">
                <a:solidFill>
                  <a:srgbClr val="333333"/>
                </a:solidFill>
                <a:latin typeface="Arial"/>
              </a:rPr>
              <a:t>g_θ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chỉ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cần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trả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lời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một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câu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: «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g_θ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(S) ≥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tau_q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?». 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Nên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nó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là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bộ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phân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loại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ở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biên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không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phải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bộ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hồi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quy</a:t>
            </a:r>
            <a:endParaRPr sz="1400" b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333333"/>
                </a:solidFill>
                <a:latin typeface="Arial"/>
              </a:rPr>
              <a:t>—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và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lấy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mẫu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phải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dồn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vào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biên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.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Cặp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đôi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ngẫu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nhiên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hay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tập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con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đều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rơi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xa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ngưỡng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: negative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dễ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vô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dụng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08792" cy="530352"/>
          </a:xfrm>
          <a:prstGeom prst="roundRect">
            <a:avLst>
              <a:gd name="adj" fmla="val 24137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00584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E3F92"/>
                </a:solidFill>
                <a:latin typeface="Arial"/>
              </a:rPr>
              <a:t>vòng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71600"/>
            <a:ext cx="173736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khung bắt buộc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371600"/>
            <a:ext cx="603504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Arial"/>
              </a:rPr>
              <a:t>v(∅), v(C), v(R), mọi singleton — rẻ nhất (750 token), bắt ca «một đoạn tự đủ»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371600"/>
            <a:ext cx="173736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888888"/>
                </a:solidFill>
                <a:latin typeface="Arial"/>
              </a:rPr>
              <a:t>44.500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56816"/>
            <a:ext cx="10908792" cy="530352"/>
          </a:xfrm>
          <a:prstGeom prst="roundRect">
            <a:avLst>
              <a:gd name="adj" fmla="val 24137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956816"/>
            <a:ext cx="100584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772E"/>
                </a:solidFill>
                <a:latin typeface="Arial"/>
              </a:rPr>
              <a:t>vòng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956816"/>
            <a:ext cx="173736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đi dọc biên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956816"/>
            <a:ext cx="603504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Arial"/>
              </a:rPr>
              <a:t>greedy từ rỗng, ghi cả ứng viên bị loại — đường cắt ngang tau_q một lần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1956816"/>
            <a:ext cx="173736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888888"/>
                </a:solidFill>
                <a:latin typeface="Arial"/>
              </a:rPr>
              <a:t>27.000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42032"/>
            <a:ext cx="10908792" cy="530352"/>
          </a:xfrm>
          <a:prstGeom prst="roundRect">
            <a:avLst>
              <a:gd name="adj" fmla="val 24137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542032"/>
            <a:ext cx="100584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E3F92"/>
                </a:solidFill>
                <a:latin typeface="Arial"/>
              </a:rPr>
              <a:t>vòng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542032"/>
            <a:ext cx="173736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active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542032"/>
            <a:ext cx="603504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Arial"/>
              </a:rPr>
              <a:t>nơi ensemble bất đồng và dự đoán rơi quanh tau_q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542032"/>
            <a:ext cx="173736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888888"/>
                </a:solidFill>
                <a:latin typeface="Arial"/>
              </a:rPr>
              <a:t>37.500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27248"/>
            <a:ext cx="10908792" cy="530352"/>
          </a:xfrm>
          <a:prstGeom prst="roundRect">
            <a:avLst>
              <a:gd name="adj" fmla="val 24137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127248"/>
            <a:ext cx="100584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772E"/>
                </a:solidFill>
                <a:latin typeface="Arial"/>
              </a:rPr>
              <a:t>vòng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127248"/>
            <a:ext cx="173736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Arial"/>
              </a:rPr>
              <a:t>xác nhận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127248"/>
            <a:ext cx="603504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Arial"/>
              </a:rPr>
              <a:t>S* và top-k bằng model thật — không để proxy quyết định nhận/bỏ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127248"/>
            <a:ext cx="173736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888888"/>
                </a:solidFill>
                <a:latin typeface="Arial"/>
              </a:rPr>
              <a:t>18.750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767328"/>
            <a:ext cx="5349240" cy="1682495"/>
          </a:xfrm>
          <a:prstGeom prst="roundRect">
            <a:avLst>
              <a:gd name="adj" fmla="val 7608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3767328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3950208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199632" y="3767328"/>
            <a:ext cx="5349240" cy="1682495"/>
          </a:xfrm>
          <a:prstGeom prst="roundRect">
            <a:avLst>
              <a:gd name="adj" fmla="val 7608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199632" y="3767328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99632" y="3950208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36208" y="3785615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 thích nghi — prior mù đúng ở ca ta cần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151376"/>
            <a:ext cx="5120640" cy="133502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Arial"/>
              </a:rPr>
              <a:t>multi-hop: MỌI singleton ≈ v(∅) → prior là nhiễu.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Arial"/>
              </a:rPr>
              <a:t>Chọn 12 trên 40 ≈ bốc ngẫu nhiên (29% trúng).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Arial"/>
              </a:rPr>
              <a:t>spread = max v({k}) − v(∅)   đã đo sẵn ở vòng 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Arial"/>
              </a:rPr>
              <a:t>   ≥ 0.15·cái bánh  →  m = 12      (prior tốt)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Arial"/>
              </a:rPr>
              <a:t>   &lt;  ngưỡng        →  m = 30      (+32% token)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22976"/>
            <a:ext cx="10908792" cy="713232"/>
          </a:xfrm>
          <a:prstGeom prst="roundRect">
            <a:avLst>
              <a:gd name="adj" fmla="val 17948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0080" y="5522976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0080" y="5705856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6656" y="5541264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33872"/>
            <a:ext cx="1069848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 nhỏ chưa chắc rẻ: shortlist trượt thì r tăng — chi phí chuyển từ «vòng rộng» sang «nhiều vòng», mà S* lại kém hơn.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§3.4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A · từ MWC tới đầu ra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6/33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3429000" cy="2176272"/>
          </a:xfrm>
          <a:prstGeom prst="roundRect">
            <a:avLst>
              <a:gd name="adj" fmla="val 5882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960120"/>
            <a:ext cx="342900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342900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978408"/>
            <a:ext cx="333756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 · Liệt kê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1362456"/>
            <a:ext cx="3246120" cy="171907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Beam search trên g_θ, 0 lượt LLM.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Đừng dừng ở cỡ đầu tiên đạt đủ —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chạy tiếp 1–2 cỡ nữa.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Mở rộng trong cụm để lấy lại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PGI mà shortlist đã giấu mất.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960120"/>
            <a:ext cx="3429000" cy="2176272"/>
          </a:xfrm>
          <a:prstGeom prst="roundRect">
            <a:avLst>
              <a:gd name="adj" fmla="val 5882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70832" y="960120"/>
            <a:ext cx="342900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143000"/>
            <a:ext cx="342900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978408"/>
            <a:ext cx="333756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 · Chỉ số cấu trúc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1362456"/>
            <a:ext cx="3246120" cy="142962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Arial"/>
              </a:rPr>
              <a:t>Banzhaf có dấu:</a:t>
            </a:r>
          </a:p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Arial"/>
              </a:rPr>
              <a:t>    β⁺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thiếu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→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đủ</a:t>
            </a:r>
            <a:endParaRPr sz="1300" b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Arial"/>
              </a:rPr>
              <a:t>    β⁻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đủ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→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thiếu</a:t>
            </a:r>
            <a:endParaRPr sz="1300" b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Arial"/>
              </a:rPr>
              <a:t>β &lt; 0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chỉ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thẳng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ra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đoạn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gây hại</a:t>
            </a:r>
          </a:p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Arial"/>
              </a:rPr>
              <a:t>— negative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khó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cho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V_neg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300" b="0" dirty="0" err="1">
                <a:solidFill>
                  <a:srgbClr val="333333"/>
                </a:solidFill>
                <a:latin typeface="Arial"/>
              </a:rPr>
              <a:t>Chuẩn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hóa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β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và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PGI riêng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rồi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gộp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960120"/>
            <a:ext cx="3429000" cy="2176272"/>
          </a:xfrm>
          <a:prstGeom prst="roundRect">
            <a:avLst>
              <a:gd name="adj" fmla="val 5882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10727" y="960120"/>
            <a:ext cx="342900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0727" y="1143000"/>
            <a:ext cx="342900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47303" y="978408"/>
            <a:ext cx="333756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 · Chọn S*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362456"/>
            <a:ext cx="3246120" cy="171907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parsimony − |S|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structure  σ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rank         Σ r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i</a:t>
            </a:r>
          </a:p>
          <a:p>
            <a:pPr algn="l">
              <a:spcAft>
                <a:spcPts val="300"/>
              </a:spcAft>
            </a:pPr>
            <a:endParaRPr sz="1300" b="0" baseline="-2500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Lọc Pareto, rồi gộp có trọng số.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Rerank chỉ phá hòa ở bước cuối.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27832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3246120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Đầu ra — và chỉ dòng đầu đi qua ranh giới hai tầng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57016"/>
            <a:ext cx="10908792" cy="1371600"/>
          </a:xfrm>
          <a:prstGeom prst="roundRect">
            <a:avLst>
              <a:gd name="adj" fmla="val 933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3675887"/>
            <a:ext cx="10058400" cy="128016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 = S*            tập đích, sang tầng B          ← không điểm số nào đi qua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W, p(S)           họ lời giải thích thay thế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entropy( p )      độ tin cậy — cao nghĩa là nhiều MWC suýt soát, quy gán không chắc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β</a:t>
            </a:r>
            <a:r>
              <a:rPr sz="1400" b="0" baseline="-25000">
                <a:solidFill>
                  <a:srgbClr val="333333"/>
                </a:solidFill>
                <a:latin typeface="Arial"/>
              </a:rPr>
              <a:t>i</a:t>
            </a:r>
            <a:r>
              <a:rPr sz="1400" b="0">
                <a:solidFill>
                  <a:srgbClr val="333333"/>
                </a:solidFill>
                <a:latin typeface="Arial"/>
              </a:rPr>
              <a:t> &lt; 0           negative khó cho L_node (§6.3)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§3.6 – §3.10, §8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A · công thức — v, τ, và tập đủ tối tiểu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7/33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5349240" cy="1408176"/>
          </a:xfrm>
          <a:prstGeom prst="roundRect">
            <a:avLst>
              <a:gd name="adj" fmla="val 909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96012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97840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Hàm giá trị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344168"/>
            <a:ext cx="5129783" cy="107899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a^_S    =  generate( q, S 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v(S)    =  P_judge( "đúng" | q, a^_S, y )  ∈ [0,1]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đọc logprob token đầu, không decode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v(rỗng) =  điểm chỉ bằng tri thức tham số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960120"/>
            <a:ext cx="5349240" cy="1408176"/>
          </a:xfrm>
          <a:prstGeom prst="roundRect">
            <a:avLst>
              <a:gd name="adj" fmla="val 909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2" y="96012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14300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97840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Ngưỡng đủ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344168"/>
            <a:ext cx="5129783" cy="107899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tau_q    =  theta × [ v_ref(q) − v(rỗng) ] + v(rỗng)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 theta = 0.95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v_ref(q) =  max( v(C),  max v(S) đã quan sát 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chốt chặn:  v_ref − v(rỗng) &lt; 0.05  →  T = rỗng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06040"/>
            <a:ext cx="5349240" cy="1408176"/>
          </a:xfrm>
          <a:prstGeom prst="roundRect">
            <a:avLst>
              <a:gd name="adj" fmla="val 909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260604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78892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262432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Định nghĩa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990088"/>
            <a:ext cx="5129783" cy="107899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 đủ         v(S) ≥ tau_q  VÀ  adq(S) = phủ hết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 tối tiểu   đủ,  và với mọi c thuộc S: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     v( S \ {c} )  &lt;  tau_q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W  =  { mọi S đủ tối tiểu 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606040"/>
            <a:ext cx="5349240" cy="1641348"/>
          </a:xfrm>
          <a:prstGeom prst="roundRect">
            <a:avLst>
              <a:gd name="adj" fmla="val 7799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99632" y="260604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278892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262432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Bổ đề: không cần v đơn điệu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90088"/>
            <a:ext cx="5129783" cy="131216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ṽ(S) = max v(S')  trên mọi S' con S     bao đơn điệu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 thắng tối tiểu của ṽ  ⟹  thắng nhờ một S' con 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S' thật sự con S  ⟹  S' cũng thắng, trái tối tiểu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⟹  S' = S,  tức v(S) ≥ tau_q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MWC( ṽ ) = W      đơn điệu hóa không đổi gì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37760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080" y="4937760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120640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4956048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85232"/>
            <a:ext cx="1069848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«Đủ» có HAI thành phần — xem slide sau. Và lý thuyết simple game đòi đơn điệu, định nghĩa trên thì không.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§3.1 – §3.3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43360" cy="77724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A · «đủ» có hai thành phần, và v chỉ đo một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Tầng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8/33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000" b="0">
                <a:solidFill>
                  <a:srgbClr val="0E3F92"/>
                </a:solidFill>
                <a:latin typeface="Arial"/>
              </a:rPr>
              <a:t>Chi tiết: §3.2  ·  Joren et al. ICLR 2025, arXiv:2411.06037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914400"/>
            <a:ext cx="5349240" cy="2447665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91440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v đo «trả lời đúng», không đo «có bằng chứng»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298448"/>
            <a:ext cx="5111496" cy="1935601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v(S)    model đọc S rồi trả lời — khớp y không?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adq(S)  các đoạn trong S có THẬT SỰ nói ra y?</a:t>
            </a:r>
          </a:p>
          <a:p>
            <a:pPr algn="l"/>
            <a:endParaRPr sz="1200" b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q = "ai đạo diễn phim thắng Oscar 1994?"  y = Zemeckis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đoạn 19 = "Forrest Gump là hiện tượng văn hóa 1990s"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không nói đạo diễn, không nói thắng giải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model thấy tên phim → TỰ NHỚ → trả lời ĐÚNG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v({19}) = 0,71 cao → bản cũ nhận 19 vào T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→ rồi dạy retriever đi lấy nó.  NHÃN SAI.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914400"/>
            <a:ext cx="5349240" cy="2662732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9632" y="91440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Và lệch này đã được đo, không phải giả định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298448"/>
            <a:ext cx="5111496" cy="215066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HotpotQA  model trả lời ĐÚNG 35–62% số ca mà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ngữ cảnh KHÔNG đủ — nhờ nhớ sẵn</a:t>
            </a:r>
          </a:p>
          <a:p>
            <a:pPr algn="l"/>
            <a:endParaRPr sz="1200" b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tỷ lệ trả lời sai   10,2%  không ngữ cảnh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       →  66,1%  ngữ cảnh không đủ</a:t>
            </a:r>
          </a:p>
          <a:p>
            <a:pPr algn="l"/>
            <a:endParaRPr sz="1200" b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tỷ lệ ca CÓ ngữ cảnh đủ sau truy hồi: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MuSiQue-Ans 46,2%    ·    HotpotQA 44,6%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→ hơn NỬA truy vấn trên đúng hai bộ ta nhắm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KHÔNG có tập đủ trong pool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86860"/>
            <a:ext cx="10908792" cy="1372331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3686860"/>
            <a:ext cx="10908792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869740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3705148"/>
            <a:ext cx="10817352" cy="267766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 dirty="0" err="1">
                <a:solidFill>
                  <a:srgbClr val="FFFFFF"/>
                </a:solidFill>
                <a:latin typeface="Arial"/>
              </a:rPr>
              <a:t>Vì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sao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giữ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vi-VN" sz="1500" b="1" dirty="0">
                <a:solidFill>
                  <a:srgbClr val="FFFFFF"/>
                </a:solidFill>
                <a:latin typeface="Arial"/>
              </a:rPr>
              <a:t>tách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khỏi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v,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không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gộp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thành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một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điểm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số</a:t>
            </a:r>
            <a:endParaRPr sz="15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070908"/>
            <a:ext cx="10671048" cy="860267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            adq phủ hết                              adq KHÔNG phủ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v ≥ τ_q         nhãn TỐT — nhận                          MỒI THAM SỐ — loại   ← lỗ bản cũ không thấy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v &lt;  τ_q        bằng chứng CÓ mà model không nối được    pool THIẾU — thoát sớm ở A0/C0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      → lỗi MODEL SINH, tầng B KHÔNG sửa được  → cờ «pool thiếu», nuôi ô «lỗi đồ thị» §6.1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43360" cy="77724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A · adq đo thế nào — chẻ câu hỏi và bảng phủ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Tầng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9/33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000" b="0">
                <a:solidFill>
                  <a:srgbClr val="0E3F92"/>
                </a:solidFill>
                <a:latin typeface="Arial"/>
              </a:rPr>
              <a:t>Chi tiết: §3.2, §3.11  ·  arXiv:2608.00585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914400"/>
            <a:ext cx="5349240" cy="2662732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91440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Hai bước, hai nơi hỏi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298448"/>
            <a:ext cx="5111496" cy="215066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bước 1  CHẺ câu hỏi thành mảnh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hỏi ai:  MuSiQue gán sẵn (phân rã 1-hop +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  đáp án trung gian), hoặc LLM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  1 lượt MỖI TRUY VẤN — không mỗi tập con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mảnh 1 "phim thắng 1994 là Forrest Gump"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mảnh 2 "Forrest Gump do Zemeckis đạo diễn"</a:t>
            </a:r>
          </a:p>
          <a:p>
            <a:pPr algn="l"/>
            <a:endParaRPr sz="1200" b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bước 2  ĐỐI CHIẾU mỗi đoạn × mỗi mảnh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hỏi ai:  model NLI nhỏ ~400M, local, 0 LƯỢT API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ra:      entail / neutral / contradict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914400"/>
            <a:ext cx="5349240" cy="2877799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9632" y="91440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Bảng phủ — 0 lượt LLM, cho ba thứ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298448"/>
            <a:ext cx="5111496" cy="2365735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  mảnh 1   mảnh 2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đoạn  3     entail      —      1  CỬA THOÁT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đoạn  7     entail      —         mảnh nào trống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đoạn 12       —      entail       → bỏ truy vấn ngay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đoạn 23       —      entail    2  ỨNG VIÊN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đoạn 31       —      entail       phủ tập, giải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đoạn 19       —         —         CHÍNH XÁC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                     3  PRIOR |T| = số mảnh</a:t>
            </a:r>
          </a:p>
          <a:p>
            <a:pPr algn="l"/>
            <a:endParaRPr sz="1200" b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adq(S) = phủ hết ⟺ mọi mảnh có đoạn trong S entail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nghiệm phủ: {3,12} {3,23} {3,31} {7,12} {7,23} {7,31}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01927"/>
            <a:ext cx="10908792" cy="1587398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3901927"/>
            <a:ext cx="10908792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084807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3920215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Vì sao PHẢI chẻ ra — hai lý do độc lập, cả hai đều chặn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285975"/>
            <a:ext cx="10671048" cy="1075334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ĐỘ DÀI    premise = cả S có thể tới 10.000 token, mà model NLI chỉ nhận 512.  Chẻ ra thì mỗi lượt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kiểm là 1 đoạn (250 token) đối 1 câu ngắn — vừa thoải mái.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BẮC CẦU   claim ghép «phim thắng 1994 do Zemeckis đạo diễn» thì KHÔNG đoạn nào một mình khẳng định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được → loại oan cả {3,12}, tức loại đúng ca multi-hop.  Chẻ ra thì mỗi mảnh có đúng một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đoạn khẳng định nó.   (arXiv:2608.00585 — lấy cơ chế, chưa trích số)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11643360" cy="77724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2500" b="1" dirty="0" err="1">
                <a:solidFill>
                  <a:srgbClr val="FFFFFF"/>
                </a:solidFill>
                <a:latin typeface="Arial"/>
              </a:rPr>
              <a:t>Tầng</a:t>
            </a:r>
            <a:r>
              <a:rPr sz="2500" b="1" dirty="0">
                <a:solidFill>
                  <a:srgbClr val="FFFFFF"/>
                </a:solidFill>
                <a:latin typeface="Arial"/>
              </a:rPr>
              <a:t> A · surrogate </a:t>
            </a:r>
            <a:r>
              <a:rPr sz="2500" b="1" dirty="0" err="1">
                <a:solidFill>
                  <a:srgbClr val="FFFFFF"/>
                </a:solidFill>
                <a:latin typeface="Arial"/>
              </a:rPr>
              <a:t>g_θ</a:t>
            </a:r>
            <a:r>
              <a:rPr sz="2500" b="1" dirty="0">
                <a:solidFill>
                  <a:srgbClr val="FFFFFF"/>
                </a:solidFill>
                <a:latin typeface="Arial"/>
              </a:rPr>
              <a:t> — </a:t>
            </a:r>
            <a:r>
              <a:rPr sz="2500" b="1" dirty="0" err="1">
                <a:solidFill>
                  <a:srgbClr val="FFFFFF"/>
                </a:solidFill>
                <a:latin typeface="Arial"/>
              </a:rPr>
              <a:t>một</a:t>
            </a:r>
            <a:r>
              <a:rPr sz="2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FFFFF"/>
                </a:solidFill>
                <a:latin typeface="Arial"/>
              </a:rPr>
              <a:t>hàm</a:t>
            </a:r>
            <a:r>
              <a:rPr sz="250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2500" b="1" dirty="0" err="1">
                <a:solidFill>
                  <a:srgbClr val="FFFFFF"/>
                </a:solidFill>
                <a:latin typeface="Arial"/>
              </a:rPr>
              <a:t>hai</a:t>
            </a:r>
            <a:r>
              <a:rPr sz="2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FFFFF"/>
                </a:solidFill>
                <a:latin typeface="Arial"/>
              </a:rPr>
              <a:t>pha</a:t>
            </a:r>
            <a:endParaRPr sz="25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Tầng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000" b="0">
                <a:solidFill>
                  <a:srgbClr val="0E3F92"/>
                </a:solidFill>
                <a:latin typeface="Arial"/>
              </a:rPr>
              <a:t>Chi tiết: §3.5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914400"/>
            <a:ext cx="5349240" cy="2017532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91440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Một hàm duy nhất, cho cả hai pha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298448"/>
            <a:ext cx="5111496" cy="150546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g_θ( q, S, đặc trưng mỗi chunk ) → dự đoán v(S)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bất biến hoán vị trên S, vì S là tập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q          embed truy vấn      v(∅)  mốc dưới thang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mỗi k ∈ S  embed chunk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+ ŝ(q,k)  điểm rerank     LUÔN có, cả hai pha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+ ṽ_k     v({k}) − v(∅)   chỉ khi có vòng 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KHÔNG đầu vào:   τ_q ,  v_ref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914400"/>
            <a:ext cx="5349240" cy="2017532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91440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3041660"/>
            <a:ext cx="5349240" cy="2017532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04166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22454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305994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Che ṽ_k theo từng chunk — ba khuôn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425708"/>
            <a:ext cx="5111496" cy="150546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pha 1 + leo thang    cả 40 chunk có ṽ_k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verification pha 2   CHỈ |S*| chunk có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beam ở bước C5       không chunk nào có</a:t>
            </a:r>
          </a:p>
          <a:p>
            <a:pPr algn="l"/>
            <a:endParaRPr sz="1200" b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Trộn ba khuôn theo đúng tỷ lệ xuất hiện. Che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tất-cả-hoặc-không-gì không dạy được khuôn giữa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— mà đó là khuôn của MỌI lượt pha 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041660"/>
            <a:ext cx="5349240" cy="2017532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99632" y="304166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9632" y="322454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36208" y="305994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Nghiệm thu, và sàn phải vượt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25708"/>
            <a:ext cx="5111496" cy="150546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  <a:latin typeface="Consolas"/>
              </a:rPr>
              <a:t>AUC TRONG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từng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truy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vấn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,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rồi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trung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bình</a:t>
            </a:r>
            <a:endParaRPr sz="1200" b="0" dirty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sz="1200" b="0" dirty="0" err="1">
                <a:solidFill>
                  <a:srgbClr val="333333"/>
                </a:solidFill>
                <a:latin typeface="Consolas"/>
              </a:rPr>
              <a:t>sàn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: 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mô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hình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chỉ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nhìn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|S|</a:t>
            </a:r>
          </a:p>
          <a:p>
            <a:pPr algn="l"/>
            <a:endParaRPr sz="1200" b="0" dirty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sz="1200" b="0" dirty="0">
                <a:solidFill>
                  <a:srgbClr val="333333"/>
                </a:solidFill>
                <a:latin typeface="Consolas"/>
              </a:rPr>
              <a:t>AUC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gộp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là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bẫy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—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tập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lớn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thì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v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cao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nên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số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đẹp</a:t>
            </a:r>
            <a:endParaRPr sz="1200" b="0" dirty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sz="1200" b="0" dirty="0" err="1">
                <a:solidFill>
                  <a:srgbClr val="333333"/>
                </a:solidFill>
                <a:latin typeface="Consolas"/>
              </a:rPr>
              <a:t>sẵn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,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mà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phân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biệt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trong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truy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vấn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bằng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0.</a:t>
            </a:r>
          </a:p>
          <a:p>
            <a:pPr algn="l"/>
            <a:r>
              <a:rPr sz="1200" b="0" dirty="0" err="1">
                <a:solidFill>
                  <a:srgbClr val="333333"/>
                </a:solidFill>
                <a:latin typeface="Consolas"/>
              </a:rPr>
              <a:t>Mốc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kiến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trúc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: GBM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đặc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trưng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tay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chạy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TRƯỚC.</a:t>
            </a:r>
          </a:p>
          <a:p>
            <a:pPr algn="l"/>
            <a:r>
              <a:rPr sz="1200" b="0" dirty="0">
                <a:solidFill>
                  <a:srgbClr val="333333"/>
                </a:solidFill>
                <a:latin typeface="Consolas"/>
              </a:rPr>
              <a:t>Set Transformer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là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ĐỀ XUẤT,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chỉ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chọn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nếu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vượt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nó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168920"/>
            <a:ext cx="10908792" cy="942197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5168920"/>
            <a:ext cx="10908792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5351800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" y="5187208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Điểm chốt — phần phải học là độ lệch khỏi cộng tính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552968"/>
            <a:ext cx="10671048" cy="430133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Hai đoạn trùng ý → lệch ÂM.  Hai đoạn bắc cầu → lệch DƯƠNG.  Đó là quy luật chung, nên gộp nhiều truy vấn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có nghĩa. Còn τ_q thì KHÔNG phải đầu vào: bước C2 gọi g_θ để quyết định có mua v(C) — mà v(C) mới chốt τ_q.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10/33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43360" cy="77724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A · hai pha — mô hình ở pha 1, nhãn ở pha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Tầng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11/33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000" b="0">
                <a:solidFill>
                  <a:srgbClr val="0E3F92"/>
                </a:solidFill>
                <a:latin typeface="Arial"/>
              </a:rPr>
              <a:t>Chi tiết: §3.11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914400"/>
            <a:ext cx="5349240" cy="1802465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91440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Vì sao phải tách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298448"/>
            <a:ext cx="5111496" cy="1290401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chạy pipeline đầy đủ cho 200.000 truy vấn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200.000 × $0,38  =  $76.000   không trả nổi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PHA 1  10.000 truy vấn, LLM đầy đủ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sản phẩm: g_θ — KHÔNG phải nhãn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PHA 2  200.000 truy vấn, đường rẻ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sản phẩm: nhãn (q, T) cho tầng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914400"/>
            <a:ext cx="5349240" cy="1802465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9632" y="91440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Giữa hai pha — chỉ ba bước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298448"/>
            <a:ext cx="5111496" cy="1290401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B1  gộp log            ~1.110.000 mẫu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B2  train g_θ          che ṽ_k ba khuôn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B3  CỔNG p — giữ 500 truy vấn pha 1, chạy cả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đường pha 2, so với S* thật đã biết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0 lượt LLM. Chạy TRƯỚC khi cam kết N₂.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p ≥ 0,90 chạy · p ≈ 0,75 tăng N₁ trước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26593"/>
            <a:ext cx="10908792" cy="2483510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2826593"/>
            <a:ext cx="10908792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009473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2844881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Đường pha 2 — ~22.300 token nếu chạy đủ; kỳ vọng 12.400 ≈ $0,037 vì ~45% thoát ở C0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210641"/>
            <a:ext cx="10671048" cy="1971446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C0  chẻ câu hỏi + bảng phủ NLI (§3.2) — thiếu mảnh → THOÁT, cờ «pool thiếu»                   400 token
C1  v(∅)                                                                                     500 token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C2  g_θ chấm 40 chunk đơn, ṽ_k che                                                               0 token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C3  v(R)    R = 12 chunk — SÀN CỤM thắng hạn ngạch nguồn: 6 suất mỗi cụm 1, rồi 6 suất   3.500 token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            bảo đảm mỗi nguồn ≥ 1 trước khi lấp theo hạng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C4  v(C)    cả 40 chunk — mua cho MỌI truy vấn, không bù bằng hằng số               10.500 token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       ──  v_ref = max( v(R), v(C) ) ;   τ_q chốt tại đây  ──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       v_ref − v(∅) &lt; 0,05  →  T = ∅, cờ «truy hồi không đóng góp»  (chốt chặn §3.3)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C5  TÌM THEO TẦNG từ nghiệm phủ của C0 (§3.6) — beam mò làm dự bị                                0 token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C6  verification bằng LLM THẬT — đủ, và tối tiểu                                           ~7.400 token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C7  ba nhánh: xuất nhãn  ·  thử ứng viên kế  ·  cứu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43360" cy="77724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A · ba ngưỡng |S*|, và ba nhánh của C7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Tầng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12/33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000" b="0">
                <a:solidFill>
                  <a:srgbClr val="0E3F92"/>
                </a:solidFill>
                <a:latin typeface="Arial"/>
              </a:rPr>
              <a:t>Chi tiết: §3.10, §3.11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914400"/>
            <a:ext cx="5349240" cy="2232599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91440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Quét hết nổ theo 2^s — tỉa, hoặc dùng bảng phủ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298448"/>
            <a:ext cx="5111496" cy="1720535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S ← S* ứng viên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lặp khi |S| &gt; 5: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xếp c ∈ S theo g_θ(q, S∖{c}) giảm dần   0 lượt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thử c đầu bảng: đo v(S∖{c})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≥ τ_q → S ← S∖{c}, lặp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&lt; τ_q → thử c kế, tối đa 3 lần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3 lần đều trượt → KẸT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|S| ≤ 5 → quét hết dàn dưới S → T, CHỨNG MINH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914400"/>
            <a:ext cx="5349240" cy="2017532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9632" y="91440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Tỉa rồi quét VẪN là chứng minh đầy đủ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298448"/>
            <a:ext cx="5111496" cy="150546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§3.10 chỉ đòi T LÀ MỘT MWC — không đòi duy nhất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hay nhỏ nhất.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T = {a,b,c} với v(T) ≥ τ_q và cả 6 tập con thực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sự &lt; τ_q  ⇒  T là tập đủ tối tiểu. 247 tập con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khác của một S* cỡ 8 không cần xét.
CÓ bảng phủ thì rẻ hơn nữa: chỉ tập con CÒN PHỦ
mới đe dọa tối tiểu — T={3,12,19} chỉ còn {3,12},
mà tầng 0 đã đo. Ba ngưỡng dưới chỉ cần cho
nhánh beam mò dự bị.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Cái không đầy đủ là W — mà W ở pha 2 vốn đã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không dùng để kết luận cấu trúc.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56727"/>
            <a:ext cx="10908792" cy="2877799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3256727"/>
            <a:ext cx="10908792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439607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3275015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Ba ngưỡng, và ba nhánh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640775"/>
            <a:ext cx="10671048" cy="2365735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|S*|          2       3       5       6       8      10      15      20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quét hết   $0,009  $0,020  $0,107  $0,239  $1,14   $5,37    $172   $5.500      nổ theo 2^s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tỉa+quét       —       —   $0,107  $0,043  $0,071  $0,098  $0,218  $0,326      tuyến tính theo s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cứu        $0,34   $0,34   $0,34   $0,34   $0,34   $0,34   $0,34   $0,34</a:t>
            </a:r>
          </a:p>
          <a:p>
            <a:pPr algn="l"/>
            <a:endParaRPr sz="1100" b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|S*| ≤ 5  quét hết ngay    ·    6 ≤ |S*| ≤ 10  tỉa xuống ≤ 5 rồi quét hết    ·    |S*| ≥ 11  cứu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tỉa còn rẻ hơn cứu tới s ≈ 20, nên ranh giới 10/11 KHÔNG đặt theo tiền — ở cỡ đó ta không còn tin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điểm xuất phát đủ để tỉa 15 lượt theo chỉ dẫn của chính mô hình đang sai.  Tỉa KẸT ở ≥ 6 → cứu.</a:t>
            </a:r>
          </a:p>
          <a:p>
            <a:pPr algn="l"/>
            <a:endParaRPr sz="1100" b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C7 (1) đủ + tối tiểu → T sang tầng B    (2) v(S*) &lt; τ_q → thử ứng viên kế, tối đa 3 lần, mỗi lần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CHỈ 1 lượt (1.250 token; một lượt cứu = 113.000, mua được 90 lần thử)  →  p 0,75 → 0,91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   (3) |S*| ≥ 11 · tỉa kẹt · 3 lần thử đều trượt  →  hàng cứu có phân tầng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A · chỉ số cấu trúc, chọn S*, phát credit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13/33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5349240" cy="1874519"/>
          </a:xfrm>
          <a:prstGeom prst="roundRect">
            <a:avLst>
              <a:gd name="adj" fmla="val 6829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96012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97840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Chỉ số trên từng đoạn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344168"/>
            <a:ext cx="5129783" cy="154533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Banzhaf có dấu: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beta⁺  số lần thêm i:  thiếu → đủ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beta⁻  số lần thêm i:  đủ → thiếu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beta_i = ( beta⁺ − beta⁻ ) / 2^(n−1)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PGI_i      = | { S thuộc W : i thuộc S } |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overlap(S) = Σ trên S'≠S  |S ∩ S'| / |S ∪ S'|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960120"/>
            <a:ext cx="5349240" cy="1874519"/>
          </a:xfrm>
          <a:prstGeom prst="roundRect">
            <a:avLst>
              <a:gd name="adj" fmla="val 6829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2" y="96012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14300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97840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Gộp thành chỉ số trên từng MWC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344168"/>
            <a:ext cx="5129783" cy="154533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chuẩn hóa beta và PGI riêng rồi mới gộp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beta trong [−1,1],  PGI là số đếm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cộng thẳng thì PGI nuốt beta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sigma_g^sum(S) = Σ trên i∈S  ( beta~_i + PGI~_i 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sigma_g^min(S) = min trên i∈S ( beta~_i + PGI~_i 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44368"/>
            <a:ext cx="5349240" cy="1874519"/>
          </a:xfrm>
          <a:prstGeom prst="roundRect">
            <a:avLst>
              <a:gd name="adj" fmla="val 6829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127248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2962656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Chọn S*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328416"/>
            <a:ext cx="5129783" cy="154533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sigma_s(S) = −|S|                  gọn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sigma_g(S)                         cấu trúc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sigma_r(S) = Σ trên i∈S  r_i       khớp rerank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S* = argmax  w_s·s~_s + w_g·s~_g + w_r·s~_r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lọc Pareto trước; rerank chỉ phá hòa cuối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944368"/>
            <a:ext cx="5349240" cy="1874519"/>
          </a:xfrm>
          <a:prstGeom prst="roundRect">
            <a:avLst>
              <a:gd name="adj" fmla="val 6829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99632" y="2944368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3127248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2962656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Phát credit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328416"/>
            <a:ext cx="5129783" cy="154533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cứng  credit(c_i) = 1/|S*| nếu c_i thuộc S*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mềm   p(S) = softmax( Phi(S) / T 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credit(c_i) = Σ trên S chứa i  p(S)/|S|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T → 0        quay về bản cứng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T → vô cùng  = Deegan–Packel chuẩn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47488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080" y="5047488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230368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5065775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94959"/>
            <a:ext cx="1069848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entropy( p ) là tín hiệu độ tin cậy: cao nghĩa là nhiều MWC suýt soát, quy gán không chắc.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§3.7 – §3.9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" rIns="73152" bIns="18288" rtlCol="0" anchor="ctr"/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Integrated Gradients — công cụ chính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14/33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Câu hỏi IG trả lời:  một đầu ra vô hướng F chịu ảnh hưởng bao nhiêu từ mỗi đầu vào?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10908792" cy="786384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26464"/>
            <a:ext cx="10424160" cy="4114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0E3F92"/>
                </a:solidFill>
                <a:latin typeface="Arial"/>
              </a:rPr>
              <a:t>IG</a:t>
            </a:r>
            <a:r>
              <a:rPr sz="1900" b="1" baseline="-25000">
                <a:solidFill>
                  <a:srgbClr val="0E3F92"/>
                </a:solidFill>
                <a:latin typeface="Arial"/>
              </a:rPr>
              <a:t>i</a:t>
            </a:r>
            <a:r>
              <a:rPr sz="1900" b="1">
                <a:solidFill>
                  <a:srgbClr val="0E3F92"/>
                </a:solidFill>
                <a:latin typeface="Arial"/>
              </a:rPr>
              <a:t>   =   ( x</a:t>
            </a:r>
            <a:r>
              <a:rPr sz="1900" b="1" baseline="-25000">
                <a:solidFill>
                  <a:srgbClr val="0E3F92"/>
                </a:solidFill>
                <a:latin typeface="Arial"/>
              </a:rPr>
              <a:t>i</a:t>
            </a:r>
            <a:r>
              <a:rPr sz="1900" b="1">
                <a:solidFill>
                  <a:srgbClr val="0E3F92"/>
                </a:solidFill>
                <a:latin typeface="Arial"/>
              </a:rPr>
              <a:t> − b</a:t>
            </a:r>
            <a:r>
              <a:rPr sz="1900" b="1" baseline="-25000">
                <a:solidFill>
                  <a:srgbClr val="0E3F92"/>
                </a:solidFill>
                <a:latin typeface="Arial"/>
              </a:rPr>
              <a:t>i</a:t>
            </a:r>
            <a:r>
              <a:rPr sz="1900" b="1">
                <a:solidFill>
                  <a:srgbClr val="0E3F92"/>
                </a:solidFill>
                <a:latin typeface="Arial"/>
              </a:rPr>
              <a:t> )   ×   ∫ gradient dọc đường từ mốc b tới điểm thật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42416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888888"/>
                </a:solidFill>
                <a:latin typeface="Arial"/>
              </a:rPr>
              <a:t>đi xa mốc bao nhiêu                      không chỉ lấy gradient tại đích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59152"/>
            <a:ext cx="5349240" cy="2048255"/>
          </a:xfrm>
          <a:prstGeom prst="roundRect">
            <a:avLst>
              <a:gd name="adj" fmla="val 625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359152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542032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377440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Vì sao phải tích phân — ví dụ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" y="2761488"/>
            <a:ext cx="5166359" cy="159105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F(a,b) = min(a+b, 1),  mốc (0,0),  thật (0.8, 0.6)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gradient tại điểm thật:  a+b = 1.4 &gt; 1 → bão hòa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 ∂F/∂a = ∂F/∂b = 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 «cả hai đều vô dụng» — sai hẳn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IG dọc đường:   IG_a = 0.57,   IG_b = 0.43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359152"/>
            <a:ext cx="5349240" cy="2048255"/>
          </a:xfrm>
          <a:prstGeom prst="roundRect">
            <a:avLst>
              <a:gd name="adj" fmla="val 625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9632" y="2359152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9632" y="2542032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6208" y="2377440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Tính chất dùng xuyên suốt — completeness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761488"/>
            <a:ext cx="5166359" cy="159105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Σ IG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i</a:t>
            </a:r>
            <a:r>
              <a:rPr sz="1300" b="0">
                <a:solidFill>
                  <a:srgbClr val="333333"/>
                </a:solidFill>
                <a:latin typeface="Arial"/>
              </a:rPr>
              <a:t>  =  F(x) − F(mốc)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Trong ví dụ:  0.57 + 0.43 = 1.00  ✓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Các phần cộng lại đúng bằng cái tổng. Nhờ nó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mọi con số IG đọc được như «chiếm bao nhiêu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phần trăm», và mọi phép kiểm đều dựa vào nó.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35424"/>
            <a:ext cx="10908792" cy="32918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4553712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Hai nghĩa của chữ «đường» — đừng lẫn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64608"/>
            <a:ext cx="10908792" cy="658368"/>
          </a:xfrm>
          <a:prstGeom prst="rect">
            <a:avLst/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10424160" cy="58521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đường tích phân   đoạn thẳng trong không gian đầu vào, từ mốc tới điểm thật — thiết bị toán học bên trong IG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đường trên đồ thị   chuỗi cạnh  seed → … → D  — thứ tầng B đi tìm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§4 mở đầu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" rIns="73152" bIns="18288" rtlCol="0" anchor="ctr"/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G-reasoner — kiến trúc, và ba chỗ quan trọng với 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15/33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5349240" cy="2386584"/>
          </a:xfrm>
          <a:prstGeom prst="roundRect">
            <a:avLst>
              <a:gd name="adj" fmla="val 536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96012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97840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QuadGraph — bốn loại node, nối nhau hai chiều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1362456"/>
            <a:ext cx="5166359" cy="192938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community    cụm chủ đề, có bản tóm tắt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document     chunk văn bản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entity       thực thể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attribute    thuộc tính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Cạnh liên tầng cho phép entity → document → entity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khác: multi-hop ở ngay mức tài liệu.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960120"/>
            <a:ext cx="5349240" cy="2386584"/>
          </a:xfrm>
          <a:prstGeom prst="roundRect">
            <a:avLst>
              <a:gd name="adj" fmla="val 536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2" y="96012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14300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97840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Một lượt chạy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362456"/>
            <a:ext cx="5166359" cy="192938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h⁰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v</a:t>
            </a:r>
            <a:r>
              <a:rPr sz="1300" b="0">
                <a:solidFill>
                  <a:srgbClr val="333333"/>
                </a:solidFill>
                <a:latin typeface="Arial"/>
              </a:rPr>
              <a:t>  =  MLP( emb(v), emb(q) )     nếu v ∈ V_q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    =  emb(v)                      nếu không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L tầng, L = 3–6: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 m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e</a:t>
            </a:r>
            <a:r>
              <a:rPr sz="1300" b="0">
                <a:solidFill>
                  <a:srgbClr val="333333"/>
                </a:solidFill>
                <a:latin typeface="Arial"/>
              </a:rPr>
              <a:t>  =  DistMult( h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v′</a:t>
            </a:r>
            <a:r>
              <a:rPr sz="1300" b="0">
                <a:solidFill>
                  <a:srgbClr val="333333"/>
                </a:solidFill>
                <a:latin typeface="Arial"/>
              </a:rPr>
              <a:t>, h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r</a:t>
            </a:r>
            <a:r>
              <a:rPr sz="1300" b="0">
                <a:solidFill>
                  <a:srgbClr val="333333"/>
                </a:solidFill>
                <a:latin typeface="Arial"/>
              </a:rPr>
              <a:t>, h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v</a:t>
            </a:r>
            <a:r>
              <a:rPr sz="1300" b="0">
                <a:solidFill>
                  <a:srgbClr val="333333"/>
                </a:solidFill>
                <a:latin typeface="Arial"/>
              </a:rPr>
              <a:t> 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 h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v</a:t>
            </a:r>
            <a:r>
              <a:rPr sz="1300" b="0">
                <a:solidFill>
                  <a:srgbClr val="333333"/>
                </a:solidFill>
                <a:latin typeface="Arial"/>
              </a:rPr>
              <a:t>  =  Upd( h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v</a:t>
            </a:r>
            <a:r>
              <a:rPr sz="1300" b="0">
                <a:solidFill>
                  <a:srgbClr val="333333"/>
                </a:solidFill>
                <a:latin typeface="Arial"/>
              </a:rPr>
              <a:t>,  Σ m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e</a:t>
            </a:r>
            <a:r>
              <a:rPr sz="1300" b="0">
                <a:solidFill>
                  <a:srgbClr val="333333"/>
                </a:solidFill>
                <a:latin typeface="Arial"/>
              </a:rPr>
              <a:t> )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p(v)  =  Predictor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type(v)</a:t>
            </a:r>
            <a:r>
              <a:rPr sz="1300" b="0">
                <a:solidFill>
                  <a:srgbClr val="333333"/>
                </a:solidFill>
                <a:latin typeface="Arial"/>
              </a:rPr>
              <a:t>( h</a:t>
            </a:r>
            <a:r>
              <a:rPr sz="1300" b="0" baseline="30000">
                <a:solidFill>
                  <a:srgbClr val="333333"/>
                </a:solidFill>
                <a:latin typeface="Arial"/>
              </a:rPr>
              <a:t>L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v</a:t>
            </a:r>
            <a:r>
              <a:rPr sz="1300" b="0">
                <a:solidFill>
                  <a:srgbClr val="333333"/>
                </a:solidFill>
                <a:latin typeface="Arial"/>
              </a:rPr>
              <a:t>, emb(v), emb(q) 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19856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" y="3438144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Ba tính chất — hai trong số đó là lý do ta phải can thiệp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58768"/>
            <a:ext cx="10908792" cy="658368"/>
          </a:xfrm>
          <a:prstGeom prst="roundRect">
            <a:avLst>
              <a:gd name="adj" fmla="val 19444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858768"/>
            <a:ext cx="3017520" cy="6583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E9E5B"/>
                </a:solidFill>
                <a:latin typeface="Arial"/>
              </a:rPr>
              <a:t>inductive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858768"/>
            <a:ext cx="4480560" cy="6583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mọi đầu vào suy từ văn bản, không tham số gắn ID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858768"/>
            <a:ext cx="2926080" cy="6583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E9E5B"/>
                </a:solidFill>
                <a:latin typeface="Arial"/>
              </a:rPr>
              <a:t>chạy được trên đồ thị mới, không train lại  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90288"/>
            <a:ext cx="10908792" cy="658368"/>
          </a:xfrm>
          <a:prstGeom prst="roundRect">
            <a:avLst>
              <a:gd name="adj" fmla="val 19444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590288"/>
            <a:ext cx="3017520" cy="6583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8772E"/>
                </a:solidFill>
                <a:latin typeface="Arial"/>
              </a:rPr>
              <a:t>không có trọng số cạnh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590288"/>
            <a:ext cx="4480560" cy="6583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DistMult rồi cộng tổng — không attention, không hệ số riêng từng cạnh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590288"/>
            <a:ext cx="2926080" cy="6583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772E"/>
                </a:solidFill>
                <a:latin typeface="Arial"/>
              </a:rPr>
              <a:t>IG không có gì để bám  →  chèn gate, §4.2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21808"/>
            <a:ext cx="10908792" cy="658368"/>
          </a:xfrm>
          <a:prstGeom prst="roundRect">
            <a:avLst>
              <a:gd name="adj" fmla="val 19444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321808"/>
            <a:ext cx="3017520" cy="6583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8772E"/>
                </a:solidFill>
                <a:latin typeface="Arial"/>
              </a:rPr>
              <a:t>truy vấn chỉ vào lúc khởi tạo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321808"/>
            <a:ext cx="4480560" cy="6583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sau đó L tầng lan truyền chạy như nhau bất kể hỏi gì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321808"/>
            <a:ext cx="2926080" cy="6583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772E"/>
                </a:solidFill>
                <a:latin typeface="Arial"/>
              </a:rPr>
              <a:t>gate phụ thuộc truy vấn, §4.2 chế độ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34M tham số · EM 81,1 trên HotpotQA · arXiv:2509.24276 — chi tiết kiến trúc nên đối chiếu bản gốc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" rIns="73152" bIns="18288" rtlCol="0" anchor="ctr"/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Tầng B · bối cảnh và chỗ thiếu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16/33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5349240" cy="2569464"/>
          </a:xfrm>
          <a:prstGeom prst="roundRect">
            <a:avLst>
              <a:gd name="adj" fmla="val 4982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02412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Graph foundation model — và ta dùng loại node nào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1408176"/>
            <a:ext cx="5166359" cy="211226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G-reasoner — QuadGraph bốn loại node. 34M tham số,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không nhớ thực thể nào nên chạy được trên đồ thị mới.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document  · community    vào prompt  ← nhãn 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entity    · attribute    không       ← nhãn Π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Quy tắc: vào prompt ⟺ từng là người chơi của Shapley.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Hai loại sau là chất nền lan truyền, không phải văn bản.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005840"/>
            <a:ext cx="5349240" cy="2569464"/>
          </a:xfrm>
          <a:prstGeom prst="roundRect">
            <a:avLst>
              <a:gd name="adj" fmla="val 4982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2" y="100584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18872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02412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Vì sao phải là đồ thị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408176"/>
            <a:ext cx="5166359" cy="211226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Bi-encoder chấm từng đoạn độc lập, nên không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diễn đạt được «d chỉ có ích khi đi cùng c».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A: X sinh ở thành phố C      v({A}) ≈ 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B: C thuộc nước D             v({B}) ≈ 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hỏi «X sinh ở nước nào?»   v({A,B}) cao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Đồ thị biểu diễn tính kết hợp một cách tự nhiên.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75887"/>
            <a:ext cx="10908792" cy="1719072"/>
          </a:xfrm>
          <a:prstGeom prst="roundRect">
            <a:avLst>
              <a:gd name="adj" fmla="val 7446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3675887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858768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3694175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Chỗ thiếu khiến ta phải can thiệp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" y="4078224"/>
            <a:ext cx="10725912" cy="126187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G-reasoner tính thông điệp bằng DistMult rồi cộng tổng: không attention, không hệ số riêng cho từng cạnh —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mỗi cạnh hoặc gửi đủ, hoặc không tồn tại, không có mức trung gian.</a:t>
            </a:r>
          </a:p>
          <a:p>
            <a:pPr algn="l">
              <a:spcAft>
                <a:spcPts val="300"/>
              </a:spcAft>
            </a:pPr>
            <a:endParaRPr sz="15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Nhưng IG cần một biến liên tục vô hướng mới lấy đạo hàm được. Không có biến nào thì IG không bám vào đâu.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G-reasoner: arXiv:2509.24276 · GFM-RAG: arXiv:2502.01113, NeurIPS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" rIns="73152" bIns="18288" rtlCol="0" anchor="ctr"/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Tầng B · chèn gate lên cạnh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17/33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86868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042415"/>
            <a:ext cx="10424160" cy="4114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E3F92"/>
                </a:solidFill>
                <a:latin typeface="Arial"/>
              </a:rPr>
              <a:t>thông điệp mới   =   g   ×   Msg( ·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0424160" cy="3200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g  là một số trong [0,1]            Msg( · )  là vector d chiều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56816"/>
            <a:ext cx="10881360" cy="34747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Một số duy nhất điều khiển cả vector — nhờ đó mỗi cạnh chỉ có một đại lượng cần quy gán, không phải d đại lượng.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5349240" cy="2066543"/>
          </a:xfrm>
          <a:prstGeom prst="roundRect">
            <a:avLst>
              <a:gd name="adj" fmla="val 6194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48716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Chế độ 1 — cách đo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" y="2871216"/>
            <a:ext cx="5166359" cy="160934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333333"/>
                </a:solidFill>
                <a:latin typeface="Arial"/>
              </a:rPr>
              <a:t>g = 1 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cho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mọi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cạnh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mọi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tầng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l">
              <a:spcAft>
                <a:spcPts val="300"/>
              </a:spcAft>
            </a:pPr>
            <a:endParaRPr sz="1400" b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400" b="0" dirty="0" err="1">
                <a:solidFill>
                  <a:srgbClr val="333333"/>
                </a:solidFill>
                <a:latin typeface="Arial"/>
              </a:rPr>
              <a:t>Nhân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với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1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nên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model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chạy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y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hệt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bản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gốc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333333"/>
                </a:solidFill>
                <a:latin typeface="Arial"/>
              </a:rPr>
              <a:t>Gate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chỉ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tồn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tại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để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IG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có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chỗ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bám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l">
              <a:spcAft>
                <a:spcPts val="300"/>
              </a:spcAft>
            </a:pPr>
            <a:endParaRPr sz="1400" b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400" b="0" dirty="0" err="1">
                <a:solidFill>
                  <a:srgbClr val="333333"/>
                </a:solidFill>
                <a:latin typeface="Arial"/>
              </a:rPr>
              <a:t>Dùng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để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đo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ở mọi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mốc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—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không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bao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giờ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Arial"/>
              </a:rPr>
              <a:t>bỏ</a:t>
            </a:r>
            <a:r>
              <a:rPr sz="1400" b="0" dirty="0">
                <a:solidFill>
                  <a:srgbClr val="333333"/>
                </a:solidFill>
                <a:latin typeface="Arial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468880"/>
            <a:ext cx="5349240" cy="2066543"/>
          </a:xfrm>
          <a:prstGeom prst="roundRect">
            <a:avLst>
              <a:gd name="adj" fmla="val 6194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9632" y="246888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9632" y="265176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6208" y="248716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Chế độ 2 — một tính năng của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871216"/>
            <a:ext cx="5166359" cy="160934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ĝ = σ( MLP( h</a:t>
            </a:r>
            <a:r>
              <a:rPr sz="1400" b="0" baseline="-25000">
                <a:solidFill>
                  <a:srgbClr val="333333"/>
                </a:solidFill>
                <a:latin typeface="Arial"/>
              </a:rPr>
              <a:t>v</a:t>
            </a:r>
            <a:r>
              <a:rPr sz="1400" b="0">
                <a:solidFill>
                  <a:srgbClr val="333333"/>
                </a:solidFill>
                <a:latin typeface="Arial"/>
              </a:rPr>
              <a:t> , h</a:t>
            </a:r>
            <a:r>
              <a:rPr sz="1400" b="0" baseline="-25000">
                <a:solidFill>
                  <a:srgbClr val="333333"/>
                </a:solidFill>
                <a:latin typeface="Arial"/>
              </a:rPr>
              <a:t>r</a:t>
            </a:r>
            <a:r>
              <a:rPr sz="1400" b="0">
                <a:solidFill>
                  <a:srgbClr val="333333"/>
                </a:solidFill>
                <a:latin typeface="Arial"/>
              </a:rPr>
              <a:t> , h</a:t>
            </a:r>
            <a:r>
              <a:rPr sz="1400" b="0" baseline="-25000">
                <a:solidFill>
                  <a:srgbClr val="333333"/>
                </a:solidFill>
                <a:latin typeface="Arial"/>
              </a:rPr>
              <a:t>v′</a:t>
            </a:r>
            <a:r>
              <a:rPr sz="1400" b="0">
                <a:solidFill>
                  <a:srgbClr val="333333"/>
                </a:solidFill>
                <a:latin typeface="Arial"/>
              </a:rPr>
              <a:t> , h</a:t>
            </a:r>
            <a:r>
              <a:rPr sz="1400" b="0" baseline="-25000">
                <a:solidFill>
                  <a:srgbClr val="333333"/>
                </a:solidFill>
                <a:latin typeface="Arial"/>
              </a:rPr>
              <a:t>q</a:t>
            </a:r>
            <a:r>
              <a:rPr sz="1400" b="0">
                <a:solidFill>
                  <a:srgbClr val="333333"/>
                </a:solidFill>
                <a:latin typeface="Arial"/>
              </a:rPr>
              <a:t> ) )</a:t>
            </a:r>
          </a:p>
          <a:p>
            <a:pPr algn="l">
              <a:spcAft>
                <a:spcPts val="300"/>
              </a:spcAft>
            </a:pPr>
            <a:endParaRPr sz="14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Cho model định tuyến khác nhau theo từng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câu hỏi — bản gốc chỉ cho truy vấn tác động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lúc khởi tạo. Bật từ mốc 2. Vẫn inductive.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70832"/>
            <a:ext cx="10908792" cy="32918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389118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Hai chế độ không phải hai lựa chọn cho cùng một việc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00016"/>
            <a:ext cx="10908792" cy="731520"/>
          </a:xfrm>
          <a:prstGeom prst="rect">
            <a:avLst/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773168"/>
            <a:ext cx="10424160" cy="65836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ĝ là thứ model làm, không phải thứ ta dùng để đo.  Nếu đo bằng ĝ thì cạnh model đang đóng nhận IG ≈ 0 —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mà đó đúng là những cạnh «lẽ ra phải mở» cần tìm.  Nên đào nhãn thì luôn đo với g = 1, kể cả từ mốc 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§4.2, §4.4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" rIns="73152" bIns="18288" rtlCol="0" anchor="ctr"/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Tầng B · gate phải riêng từng tầng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18/33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3200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Một cạnh vật lý được dùng L lần, mỗi tầng một lần — và các lần đó không tương đương.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417320"/>
            <a:ext cx="1188720" cy="457200"/>
          </a:xfrm>
          <a:prstGeom prst="roundRect">
            <a:avLst>
              <a:gd name="adj" fmla="val 28000"/>
            </a:avLst>
          </a:prstGeom>
          <a:solidFill>
            <a:srgbClr val="0E3F92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36976" y="1417320"/>
            <a:ext cx="1115568" cy="4572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80560" y="1595628"/>
            <a:ext cx="1051560" cy="10058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77840" y="1417320"/>
            <a:ext cx="118872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14416" y="1417320"/>
            <a:ext cx="1115568" cy="4572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333333"/>
                </a:solidFill>
                <a:latin typeface="Arial"/>
              </a:rPr>
              <a:t>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58000" y="1595628"/>
            <a:ext cx="1051560" cy="10058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55279" y="1417320"/>
            <a:ext cx="1188720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91855" y="1417320"/>
            <a:ext cx="1115568" cy="4572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333333"/>
                </a:solidFill>
                <a:latin typeface="Arial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152144"/>
            <a:ext cx="109728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888888"/>
                </a:solidFill>
                <a:latin typeface="Arial"/>
              </a:rPr>
              <a:t>sinh_ở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152144"/>
            <a:ext cx="109728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888888"/>
                </a:solidFill>
                <a:latin typeface="Arial"/>
              </a:rPr>
              <a:t>thuộc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1481328"/>
            <a:ext cx="1005840" cy="34747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0">
                <a:solidFill>
                  <a:srgbClr val="E8772E"/>
                </a:solidFill>
                <a:latin typeface="Arial"/>
              </a:rPr>
              <a:t>seed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240280"/>
            <a:ext cx="5349240" cy="2020824"/>
          </a:xfrm>
          <a:prstGeom prst="roundRect">
            <a:avLst>
              <a:gd name="adj" fmla="val 6334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224028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242316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225856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Tầng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1" y="2642616"/>
            <a:ext cx="5166359" cy="156362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X → C  nổ    C nhận tín hiệu truy vấn       hữu ích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 → D  nổ    C còn trống, D nhận đồ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  vô nghĩa                          vô dụng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240280"/>
            <a:ext cx="5349240" cy="2020824"/>
          </a:xfrm>
          <a:prstGeom prst="roundRect">
            <a:avLst>
              <a:gd name="adj" fmla="val 6334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99632" y="224028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9632" y="242316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6208" y="225856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Tầng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642616"/>
            <a:ext cx="5166359" cy="156362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 → D  nổ    C đã có tín hiệu, D nhận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  được                              hữu ích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X → C  nổ    C đã có rồi, thừa                 gần vô dụng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10881360" cy="7315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Gate chung cho cả L tầng sẽ trộn hai vai trò đó lại và mất thông tin thứ tự — tức mất đúng cái quan trọng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nhất của multi-hop. Nên số gate là  |𝓔| × L,  một gate cho mỗi cặp (cạnh, tầng).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13832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5513832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696712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" y="5532120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52160"/>
            <a:ext cx="1069848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Cùng một cạnh: tầng này thiết yếu, tầng kia vô dụng. Thứ tự chính là nội dung của multi-hop.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§4.3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B · công thức — gate, F_B, và IG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19/33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349240" cy="1874519"/>
          </a:xfrm>
          <a:prstGeom prst="roundRect">
            <a:avLst>
              <a:gd name="adj" fmla="val 6829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91440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Gate chèn vào thông điệp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98448"/>
            <a:ext cx="5129783" cy="154533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m_e^(l) = g_e^(l) * Msg( h_v^(l-1), h_r^(l), h_v'^(l-1) 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^vo huong      ^vector d chieu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h_v^(l) = Upd( h_v^(l-1), tong</a:t>
            </a:r>
            <a:r>
              <a:rPr sz="1300" b="0" baseline="-25000">
                <a:solidFill>
                  <a:srgbClr val="333333"/>
                </a:solidFill>
                <a:latin typeface="Consolas"/>
              </a:rPr>
              <a:t>e vao v</a:t>
            </a:r>
            <a:r>
              <a:rPr sz="1300" b="0">
                <a:solidFill>
                  <a:srgbClr val="333333"/>
                </a:solidFill>
                <a:latin typeface="Consolas"/>
              </a:rPr>
              <a:t> m_e^(l) )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che do 2:  g^ = sigmoid( MLP(h_v,h_r,h_v',h_q)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914400"/>
            <a:ext cx="5349240" cy="1874519"/>
          </a:xfrm>
          <a:prstGeom prst="roundRect">
            <a:avLst>
              <a:gd name="adj" fmla="val 6829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2" y="91440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mục tiêu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298448"/>
            <a:ext cx="5129783" cy="154533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p(v)   = Predictor</a:t>
            </a:r>
            <a:r>
              <a:rPr sz="1300" b="0" baseline="-25000">
                <a:solidFill>
                  <a:srgbClr val="333333"/>
                </a:solidFill>
                <a:latin typeface="Consolas"/>
              </a:rPr>
              <a:t>type(v)</a:t>
            </a:r>
            <a:r>
              <a:rPr sz="1300" b="0">
                <a:solidFill>
                  <a:srgbClr val="333333"/>
                </a:solidFill>
                <a:latin typeface="Consolas"/>
              </a:rPr>
              <a:t>( h_v^(L), emb(v), emb(q) )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F_B(g) = log p(v_D)        riêng từng đích D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F_B là hàm của vector gate, không phải của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embedding -- khác biệt cốt lõi số với tầng 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98064"/>
            <a:ext cx="10908792" cy="2107692"/>
          </a:xfrm>
          <a:prstGeom prst="roundRect">
            <a:avLst>
              <a:gd name="adj" fmla="val 607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2798064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980944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2816352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IG trên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182112"/>
            <a:ext cx="10689336" cy="177850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IG_e^(l) = ( g*_e^(l) - 0 ) x (1/M) tổng</a:t>
            </a:r>
            <a:r>
              <a:rPr sz="1300" b="0" baseline="-25000">
                <a:solidFill>
                  <a:srgbClr val="333333"/>
                </a:solidFill>
                <a:latin typeface="Consolas"/>
              </a:rPr>
              <a:t>m=1..M</a:t>
            </a:r>
            <a:r>
              <a:rPr sz="1300" b="0">
                <a:solidFill>
                  <a:srgbClr val="333333"/>
                </a:solidFill>
                <a:latin typeface="Consolas"/>
              </a:rPr>
              <a:t>  dF_B( alpha_m * g* ) / dg_e^(l)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^đầu vào - baseline        ^gradient trung bình doc đường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g* = 1   khi đào nhãn   -- thừa số đầu rụng hết, con dung gradient trung bình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= g^  khi báo cáo    -- cạnh model da tắt (g^ ~ 0) tự động nhận IG ~ 0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Kiểm tra 4:   tổng</a:t>
            </a:r>
            <a:r>
              <a:rPr sz="1300" b="0" baseline="-25000">
                <a:solidFill>
                  <a:srgbClr val="333333"/>
                </a:solidFill>
                <a:latin typeface="Consolas"/>
              </a:rPr>
              <a:t>e,l</a:t>
            </a:r>
            <a:r>
              <a:rPr sz="1300" b="0">
                <a:solidFill>
                  <a:srgbClr val="333333"/>
                </a:solidFill>
                <a:latin typeface="Consolas"/>
              </a:rPr>
              <a:t> IG_e^(l) = F_B(g*) - F_B(0)        completeness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85232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5285232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5468112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5303520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32704"/>
            <a:ext cx="1069848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ĝ là thứ model làm, không phải thứ ta dùng để đo. Đào nhãn thì luôn g* = 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§4.2 – §4.4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B · tính chất c/h — dẫn xuất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20/33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972800" cy="31089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Một đường chỉ truyền được tin khi mọi gate trên nó đều mở — đóng một gate ở giữa là cả đường vô dụng.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10908792" cy="2574036"/>
          </a:xfrm>
          <a:prstGeom prst="roundRect">
            <a:avLst>
              <a:gd name="adj" fmla="val 497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298448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81328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1316736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Đóng góp của đường là tích, không phải tổng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82495"/>
            <a:ext cx="10689336" cy="224485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số hạng của đường  =  c * tich</a:t>
            </a:r>
            <a:r>
              <a:rPr sz="1300" b="0" baseline="-25000">
                <a:solidFill>
                  <a:srgbClr val="333333"/>
                </a:solidFill>
                <a:latin typeface="Consolas"/>
              </a:rPr>
              <a:t>i=1..h</a:t>
            </a:r>
            <a:r>
              <a:rPr sz="1300" b="0">
                <a:solidFill>
                  <a:srgbClr val="333333"/>
                </a:solidFill>
                <a:latin typeface="Consolas"/>
              </a:rPr>
              <a:t> ( g_i / g*_i )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tai g = g*           mọi thừa số = 1      -&gt;  số hạng = c           (chuẩn hóa)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IG vấn g = alpha*g*  mọi thừa số = alpha  -&gt;  số hạng = c * alpha^h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          đường càng dài càng tắt nhanh khi alpha giam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IG_i  =  g*_i * [ tich phần tử 0 den 1 ]  ( c * alpha^(h-1) / g*_i )  d(alpha)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=  c * [ alpha^h / h ]  từ 0 đến 1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=  c /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349240" cy="1764791"/>
          </a:xfrm>
          <a:prstGeom prst="roundRect">
            <a:avLst>
              <a:gd name="adj" fmla="val 725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" y="385876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Vì sao kết quả sạch như vậy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224528"/>
            <a:ext cx="5129783" cy="1435607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g*_i triệt tiêu -&gt; không phụ thuộc gate đó mở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to hay nhỏ, cung không phụ thuộc điểm cuối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Đối xứng: mọi hop đều thiết yếu như nhau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Completeness: tổng phải bằng c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-&gt; hai điều đó khóa chặt đáp án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840480"/>
            <a:ext cx="5349240" cy="1764791"/>
          </a:xfrm>
          <a:prstGeom prst="roundRect">
            <a:avLst>
              <a:gd name="adj" fmla="val 725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99632" y="384048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9632" y="402336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8" y="385876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Dùng làm phép kiểm miễn phí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24528"/>
            <a:ext cx="5129783" cy="1435607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kiểm tra 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đường h hop, tổng giá trị c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=&gt;  mỗi hop nhận  c/h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Lệch nhiều -&gt; đang nhìn hai đường chồng nhau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chu không phải một đường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§4.5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" rIns="73152" bIns="18288" rtlCol="0" anchor="ctr"/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Tầng B · thứ cần đọc ra là một chuỗi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21/33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IG cho mỗi cặp (cạnh, tầng) một con số. Đó là một đống số rời rạc — chưa phải lời giải thích.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10908792" cy="32918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1371600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Ví dụ:  «vợ của đạo diễn phim X là ai?»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82496"/>
            <a:ext cx="10908792" cy="84124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011680" y="1847088"/>
            <a:ext cx="1920240" cy="493776"/>
          </a:xfrm>
          <a:prstGeom prst="roundRect">
            <a:avLst>
              <a:gd name="adj" fmla="val 25925"/>
            </a:avLst>
          </a:prstGeom>
          <a:solidFill>
            <a:srgbClr val="FFFFFF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48256" y="1847088"/>
            <a:ext cx="1847088" cy="49377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E3F92"/>
                </a:solidFill>
                <a:latin typeface="Arial"/>
              </a:rPr>
              <a:t>Phim-X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2043684"/>
            <a:ext cx="1143000" cy="10058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94960" y="1847088"/>
            <a:ext cx="1828800" cy="493776"/>
          </a:xfrm>
          <a:prstGeom prst="roundRect">
            <a:avLst>
              <a:gd name="adj" fmla="val 25925"/>
            </a:avLst>
          </a:prstGeom>
          <a:solidFill>
            <a:srgbClr val="FFFFFF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31536" y="1847088"/>
            <a:ext cx="1755648" cy="49377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Ông-Z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60920" y="2043684"/>
            <a:ext cx="1143000" cy="10058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0" y="1847088"/>
            <a:ext cx="1920240" cy="493776"/>
          </a:xfrm>
          <a:prstGeom prst="roundRect">
            <a:avLst>
              <a:gd name="adj" fmla="val 25925"/>
            </a:avLst>
          </a:prstGeom>
          <a:solidFill>
            <a:srgbClr val="FFFFFF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23376" y="1847088"/>
            <a:ext cx="1847088" cy="49377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D  (bà 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700784"/>
            <a:ext cx="1280160" cy="23774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88888"/>
                </a:solidFill>
                <a:latin typeface="Arial"/>
              </a:rPr>
              <a:t>đạo diễn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700784"/>
            <a:ext cx="1280160" cy="23774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88888"/>
                </a:solidFill>
                <a:latin typeface="Arial"/>
              </a:rPr>
              <a:t>vợ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103120"/>
            <a:ext cx="109728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E8772E"/>
                </a:solidFill>
                <a:latin typeface="Arial"/>
              </a:rPr>
              <a:t>seed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697480"/>
            <a:ext cx="5349240" cy="2414015"/>
          </a:xfrm>
          <a:prstGeom prst="roundRect">
            <a:avLst>
              <a:gd name="adj" fmla="val 530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269748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288036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271576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Vì sao không lấy top-k cạnh điểm cao  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" y="3099816"/>
            <a:ext cx="5166359" cy="1956815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X --0.18--&gt; A     P --0.21--&gt; Q     R --0.19--&gt; 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seed                                          đích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Ba con số to nhất, không mảnh nào nối X tới D.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Và một tập cạnh vẫn không nói thứ tự — mà thứ tự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chính là thứ multi-hop cần đọc ra.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2697480"/>
            <a:ext cx="5349240" cy="2414015"/>
          </a:xfrm>
          <a:prstGeom prst="roundRect">
            <a:avLst>
              <a:gd name="adj" fmla="val 530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99632" y="269748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99632" y="288036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36208" y="271576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Ràng buộc thứ tự là nhân quả, không phải quy ước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3099816"/>
            <a:ext cx="5193792" cy="2194559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tầng 1   Phim-X → Ông-Z    Ông-Z mới «biết» nó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                                  liên quan truy vấn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tầng 2   Ông-Z → D            tin này mới có nội dung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Nếu tầng 1 không gửi thì sang tầng 2 Ông-Z vẫn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rỗng — tin nó gửi cho D chẳng mang gì.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Cạnh điểm IG cao mà nguồn chưa nhận được gì thì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không truyền được gì.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513832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" y="5513832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696712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" y="5532120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52160"/>
            <a:ext cx="1069848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Cần một chuỗi liền mạch theo thời gian: cạnh thứ i dùng ở đúng tầng i. Đó chính là một circuit.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§4.6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" rIns="73152" bIns="18288" rtlCol="0" anchor="ctr"/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Tầng B · ba bước: đo → nối → thử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22/33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87552"/>
            <a:ext cx="3474720" cy="32918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005840"/>
            <a:ext cx="338328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 · Đo — IG trên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16736"/>
            <a:ext cx="3474720" cy="18288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426464"/>
            <a:ext cx="3255264" cy="171907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333333"/>
                </a:solidFill>
                <a:latin typeface="Arial"/>
              </a:rPr>
              <a:t>Vặn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mọi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gate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theo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một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tham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số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α</a:t>
            </a: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333333"/>
                </a:solidFill>
                <a:latin typeface="Arial"/>
              </a:rPr>
              <a:t>từ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0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lên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1,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cộng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dồn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gradient.</a:t>
            </a:r>
          </a:p>
          <a:p>
            <a:pPr algn="l">
              <a:spcAft>
                <a:spcPts val="400"/>
              </a:spcAft>
            </a:pPr>
            <a:endParaRPr sz="1300" b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333333"/>
                </a:solidFill>
                <a:latin typeface="Arial"/>
              </a:rPr>
              <a:t>Một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lượt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backward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trả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về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đạo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hàm</a:t>
            </a:r>
            <a:endParaRPr sz="1300" b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 err="1">
                <a:solidFill>
                  <a:srgbClr val="333333"/>
                </a:solidFill>
                <a:latin typeface="Arial"/>
              </a:rPr>
              <a:t>theo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mọi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gate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cùng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lúc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endParaRPr sz="1300" b="0" dirty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333333"/>
                </a:solidFill>
                <a:latin typeface="Arial"/>
              </a:rPr>
              <a:t>M ≈ 20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lượt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bất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kể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bao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nhiêu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Arial"/>
              </a:rPr>
              <a:t>cạnh</a:t>
            </a:r>
            <a:r>
              <a:rPr sz="1300" b="0" dirty="0">
                <a:solidFill>
                  <a:srgbClr val="333333"/>
                </a:solidFill>
                <a:latin typeface="Arial"/>
              </a:rPr>
              <a:t>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60520" y="2052827"/>
            <a:ext cx="182880" cy="10058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987552"/>
            <a:ext cx="3474720" cy="32918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25696" y="1005840"/>
            <a:ext cx="338328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 · Nối — vẽ lại rồi quét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316736"/>
            <a:ext cx="3474720" cy="18288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8" y="1426464"/>
            <a:ext cx="3255264" cy="171907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Vẽ mỗi node một lần cho mỗi tầng.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Mọi cạnh đi sang phải đúng một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cột → DAG, không chu trình.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Quét một lượt trái sang phải, mỗi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ô giữ lối tốt nhất tới nó.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09560" y="2052827"/>
            <a:ext cx="182880" cy="10058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9" y="987552"/>
            <a:ext cx="3474720" cy="32918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74735" y="1005840"/>
            <a:ext cx="338328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 · Thử — suff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1316736"/>
            <a:ext cx="3474720" cy="1828800"/>
          </a:xfrm>
          <a:prstGeom prst="rect">
            <a:avLst/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7" y="1426464"/>
            <a:ext cx="3255264" cy="171907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Bật đúng đường đó, tắt hết còn lại,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chạy model thật.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suff = phần cái bánh lấy lại được.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Nhận khi suff ≥ 0.95.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1 lượt forward mỗi đường.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83280"/>
            <a:ext cx="10908792" cy="32918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3401568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Bảng IG của một chuỗi sạch — chú ý hình chéo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12463"/>
            <a:ext cx="10908792" cy="13716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803904"/>
            <a:ext cx="10058400" cy="128016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cạnh            tầng 1    tầng 2    tầng 3    tầng 4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X → C            0.11      0.01      0.00      0.00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 → D₇           0.00      0.14      0.01      0.00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D₇ → B           0.00      0.00      0.17      0.01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B → D₁₅          0.00      0.00      0.00      0.21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13832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5513832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5696712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" y="5532120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69848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IG là bộ sàng, không phải bằng chứng — nó nói «vặn mạnh thì tăng», không nói «chừng này là đủ».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§4.4, §4.6 – §4.10,  Kiểm tra 4 và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B · đồ thị trải phẳng và quy hoạch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23/33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349240" cy="1641348"/>
          </a:xfrm>
          <a:prstGeom prst="roundRect">
            <a:avLst>
              <a:gd name="adj" fmla="val 7799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91440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Vẽ mỗi node một lần cho mỗi tầng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98448"/>
            <a:ext cx="5129783" cy="131216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V^  =  V  ×  { 0, 1, ..., L }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E^  =  { ((v',l−1),(v,l)) }   cạnh thật,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                    trọng số IG_e^(l)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∪  { ((v,l−1),(v,l))  }   đứng yên, trọng số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914400"/>
            <a:ext cx="5349240" cy="1641348"/>
          </a:xfrm>
          <a:prstGeom prst="roundRect">
            <a:avLst>
              <a:gd name="adj" fmla="val 7799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2" y="91440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Ba thứ rơi ra ngay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298448"/>
            <a:ext cx="5129783" cy="131216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1  ràng buộc tầng biến mất -- đã nằm trong hình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2  không có chu trình -&gt; quét một lượt theo cột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3  đích là o (D, L), không phải (D, bất kỳ)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vi p(D) tinh tu h_D^(L)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(thêm dòng cho cân bằng)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596896"/>
            <a:ext cx="5349240" cy="2340864"/>
          </a:xfrm>
          <a:prstGeom prst="roundRect">
            <a:avLst>
              <a:gd name="adj" fmla="val 5468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2596896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2615184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Quy hoạch động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980944"/>
            <a:ext cx="5129783" cy="20116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best[(v,0)] = 0     nếu v thuộc V_q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 = -inf  nếu không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best[(v,l)] = max {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best[(v, l-1)]                   đứng yên, +0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best[(v',l-1)] + IG_e^(l)        mọi e=(v',r,v)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back[(v,l)] = cách nào thắng  (để truy ngược)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596896"/>
            <a:ext cx="5349240" cy="2340864"/>
          </a:xfrm>
          <a:prstGeom prst="roundRect">
            <a:avLst>
              <a:gd name="adj" fmla="val 5468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99632" y="2596896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2779776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2615184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σ(D) — miễn phí cùng lượt quét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80944"/>
            <a:ext cx="5129783" cy="20116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reach[(v,0)] = {s}  nếu v = s thuộc V_q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reach[(v,l)] = reach[(v, l−1)]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    ∪  hợp reach[(v', l−1)]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sigma(D) = | reach[(D,L)] |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best lấy max, reach lấy hợp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09744"/>
            <a:ext cx="10881360" cy="29260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E8772E"/>
                </a:solidFill>
                <a:latin typeface="Arial"/>
              </a:rPr>
              <a:t>Chi phí:  O( ( |V| + |𝓔| ) × L )  — một lượt quét, không gọi model.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212080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5212080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5394960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" y="5230368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59552"/>
            <a:ext cx="1069848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σ(D) = 0  ⟺  best[(D,L)] = −∞.  Hai tiền kiểm của §6.1 là cùng một phép thử.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§4.7, §4.8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B · IG path trên bài toán này — chạy tay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24/33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31089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3F92"/>
                </a:solidFill>
                <a:latin typeface="Arial"/>
              </a:rPr>
              <a:t>X --e1--&gt; C --e2--&gt; D₇ --e3--&gt; B --e4--&gt; D₁₅          V_q = { X },   đích D₁₅,   L =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49240" cy="2432303"/>
          </a:xfrm>
          <a:prstGeom prst="roundRect">
            <a:avLst>
              <a:gd name="adj" fmla="val 526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134416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 · IG chấm từng (cạnh, tầng) — không phải từng cạnh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1728216"/>
            <a:ext cx="5166359" cy="197510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cạnh        tầng1  tầng2  tầng3  tầng4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e1 X→C       0.11   0.01   0.00   0.00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e2 C→D₇      0.00   0.14   0.01   0.00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e3 D₇→B      0.00   0.00   0.17   0.01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e4 B→D₁₅     0.00   0.00   0.00   0.21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Hình chéo = một chuỗi sạch. Chỉ số tầng đọc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ra luôn thứ tự hop.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349240" cy="2432303"/>
          </a:xfrm>
          <a:prstGeom prst="roundRect">
            <a:avLst>
              <a:gd name="adj" fmla="val 526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9632" y="132588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50876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8" y="134416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 · Quét trái → phải, mỗi ô giữ lối tốt nhất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1728216"/>
            <a:ext cx="5166359" cy="197510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best[(v,l)]   t0     t1     t2     t3     t4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X              0      0      0      0      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             -inf   0.11   0.11   0.11   0.11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D₇            -inf   -inf   0.25   0.25   0.25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B             -inf   -inf   -inf   0.42   0.42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D₁₅           -inf   -inf   -inf   -inf   0.63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Ranh giới -inf chạy chéo = mặt sóng thông tin.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30752"/>
            <a:ext cx="10908792" cy="1197864"/>
          </a:xfrm>
          <a:prstGeom prst="roundRect">
            <a:avLst>
              <a:gd name="adj" fmla="val 10687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730752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913632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3749039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 · Truy ngược từ ô đích (D₁₅, tầng 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1" y="4133088"/>
            <a:ext cx="10725912" cy="74066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(D₁₅,4)  ←e4@t4←  (B,3)  ←e3@t3←  (D₇,2)  ←e2@t2←  (C,1)  ←e1@t1←  (X,0)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0.11 + 0.14 + 0.17 + 0.21  =  0.63      khớp đúng giá trị ô đích  ✓      rồi bật riêng đường này, chạy model, đo suff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513832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" y="5513832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5696712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5532120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52160"/>
            <a:ext cx="1069848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IG chỉ cho ra một đống điểm. Chính chỉ số tầng mới biến đống điểm đó thành một đường có thứ tự.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§4.6 – §4.9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" rIns="73152" bIns="18288" rtlCol="0" anchor="ctr"/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Tầng B · vì sao cộng chứ không nhân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25/33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5486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Phản xạ thông thường: đặt cost = −log(w) rồi tìm đường rẻ nhất, như Dijkstra trên đồ thị xác suất.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Ở đây làm vậy là sai loại — IG là phân rã cộng tính, −log rồi cộng thì tương đương nhân.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908792" cy="32918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1709928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Hai đường giá trị hoàn toàn bằng nhau,  c = 0.60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20824"/>
            <a:ext cx="10908792" cy="11887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121408"/>
            <a:ext cx="9601200" cy="10972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                      max-sum                     min(−log)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   2 hop     0.30 + 0.30  =  0.60          2 × 1.20  =    2.41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B   6 hop     6 × 0.10     =  0.60          6 × 2.30  =  13.82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0128"/>
            <a:ext cx="10881360" cy="5486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E8772E"/>
                </a:solidFill>
                <a:latin typeface="Arial"/>
              </a:rPr>
              <a:t>max-sum:  hòa — đúng, chúng đáng giá như nhau.          min(−log):  A thắng gấp 5.7 lần — sai.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349240" cy="1746504"/>
          </a:xfrm>
          <a:prstGeom prst="roundRect">
            <a:avLst>
              <a:gd name="adj" fmla="val 7329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" y="385876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Phạt hai lần, tách ra bằng công thức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1" y="4242816"/>
            <a:ext cx="5166359" cy="128930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chi phí(h)  =  h·(−log c)  +  h·log 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                  do số cạnh       do c/h pha loãng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                  tuyến tính          trên tuyến tính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840480"/>
            <a:ext cx="5349240" cy="1746504"/>
          </a:xfrm>
          <a:prstGeom prst="roundRect">
            <a:avLst>
              <a:gd name="adj" fmla="val 7329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99632" y="384048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9632" y="402336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8" y="3871189"/>
            <a:ext cx="5257800" cy="26776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dirty="0" err="1">
                <a:solidFill>
                  <a:srgbClr val="FFFFFF"/>
                </a:solidFill>
                <a:latin typeface="Arial"/>
              </a:rPr>
              <a:t>Vì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"/>
              </a:rPr>
              <a:t>sao</a:t>
            </a:r>
            <a:endParaRPr sz="15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72784" y="4242816"/>
            <a:ext cx="5166359" cy="128930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Đường dài chính là thứ ta muốn tìm — multi-hop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là lý do tồn tại của cả tầng B.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Hàm mục tiêu thiên vị đường ngắn sẽ chọn lối tắt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giả 2 hop và bỏ chuỗi suy luận thật 4 hop.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§4.9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B · kiểm chứng suff / nec, và trần n_max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26/33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0908792" cy="1874519"/>
          </a:xfrm>
          <a:prstGeom prst="roundRect">
            <a:avLst>
              <a:gd name="adj" fmla="val 6829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914400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932688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Che gate theo Π rồi chạy một lượt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98448"/>
            <a:ext cx="10689336" cy="1545336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g_Pi[e,l] = g*[e,l]  nếu (e,l) thuộc Pi,   0 ngược lại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suff(Pi) = [ F_B(g_Pi) - F_B(0) ] / [ F_B(g*) - F_B(0) ]     phần cái bánh Pi lấy lại được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nec(Pi)  = [ F_B(g*) - F_B(g_!Pi) ] / [ F_B(g*) - F_B(0) ]   phần mat khi tắt Pi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nhận Pi  &lt;=&gt;  suff(Pi) &gt;= theta_s = 0.95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16352"/>
            <a:ext cx="5349240" cy="2340864"/>
          </a:xfrm>
          <a:prstGeom prst="roundRect">
            <a:avLst>
              <a:gd name="adj" fmla="val 5468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816352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999232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2834640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n_max là suy ra, không phải chọn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00400"/>
            <a:ext cx="5129783" cy="20116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eps~ = eps / cái bánh        mặc định 0.10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mọi đường được nhận:  gain_i &gt;= eps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cac gain rời nhau (cạnh đã lấy bị đặt IG=0)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vòng lặp còn chạy: tích lũy &lt; theta_s * cake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(n-1)*eps &lt;= tổng gain &lt; theta_s * cake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=&gt;  n &lt;= ceil( theta_s / eps~ ) = 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816352"/>
            <a:ext cx="5349240" cy="2107692"/>
          </a:xfrm>
          <a:prstGeom prst="roundRect">
            <a:avLst>
              <a:gd name="adj" fmla="val 607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99632" y="2816352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2999232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36208" y="2834640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Trần của chính suff — credit mồ côi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00400"/>
            <a:ext cx="5129783" cy="177850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Node không với tới được từ seed vẫn gửi thông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diep, vấn xê dịch p(D) -&gt; nằm trong mẫu số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ma không đường nao chạm tới (tu so).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E_reach  = { (e,l) : best[(v',l-1)] &gt; -inf 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suff_max = tổng IG trên E_reach / tổng IG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suff_max &lt; theta_s -&gt; dừng ngay, vô ích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30368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5230368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5413248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5248655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eps và n_max là một núm, không phải hai. Hằng n_max = 5 tương đương ε̃ = 0.19 — hà khắc hơn vẻ ngoài.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§4.10, §4.11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Tầng B · hội tụ nhiều seed — greedy xóa cạnh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Tầng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27/33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0908792" cy="4128515"/>
          </a:xfrm>
          <a:prstGeom prst="roundRect">
            <a:avLst>
              <a:gd name="adj" fmla="val 31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914400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932688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Tiền kiểm, rồi hai pha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98448"/>
            <a:ext cx="10689336" cy="3799331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tiền kiểm   nếu suff_max &lt; theta_s:  dừng, ghi "không giải thích được bằng đường từ seed"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-- pha 1: gom -------------------------------------------------------------------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Pi_D &lt;- rỗng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lặp: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pi   = truy ngược back[] tu (D,L)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gain = tổng IG của cac cạnh mới trong pi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Pi_D &lt;- Pi_D + pi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nếu suff(Pi_D) &gt;= theta_s  -&gt;  dừng:  thành công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nếu gain &lt; eps             -&gt;  dừng:  bằng chứng phân tán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nếu |Pi_D| = n_max         -&gt;  dừng:  hết ngân sách đọc hiểu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đặt IG_e^(l) = 0 cho mọi (e,l) thuộc Pi_D      # đã trả tiền rồi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chạy lại QHĐ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-- pha 2: tỉa ngược -------------------------------------------------------------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cho mỗi pi trong Pi_D (theo thứ tự da them):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nếu suff(Pi_D \ {pi}) &gt;= theta_s:   Pi_D &lt;- Pi_D \ {pi}     # đường thừa, bỏ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47488"/>
            <a:ext cx="5349240" cy="1065276"/>
          </a:xfrm>
          <a:prstGeom prst="roundRect">
            <a:avLst>
              <a:gd name="adj" fmla="val 12017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5047488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5230368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5065775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Vì sao xóa cạnh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431536"/>
            <a:ext cx="5129783" cy="73609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cạnh mới   vẫn có giá trị -&gt; đường kế tiếp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   được thưởng vì mang thêm cái mới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cạnh đã có giá trị 0 -&gt; dùng lại miễn phí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5047488"/>
            <a:ext cx="5349240" cy="1065276"/>
          </a:xfrm>
          <a:prstGeom prst="roundRect">
            <a:avLst>
              <a:gd name="adj" fmla="val 12017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99632" y="5047488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5230368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36208" y="5065775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Ba lý do dừng = ba chẩn đoán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431536"/>
            <a:ext cx="5129783" cy="73609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suff đạt       thành công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gain &lt; eps     bằng chứng phân tán (đọc kèm sigma)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|Pi| = n_max   đồ thị dư thừa cao -- không phải lỗi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§4.11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" rIns="73152" bIns="18288" rtlCol="0" anchor="ctr"/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Nối hai tầng — chỉ một thứ đi qua ranh giới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Nối tầng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28/33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143000"/>
            <a:ext cx="3931920" cy="868680"/>
          </a:xfrm>
          <a:prstGeom prst="roundRect">
            <a:avLst>
              <a:gd name="adj" fmla="val 14736"/>
            </a:avLst>
          </a:prstGeom>
          <a:solidFill>
            <a:srgbClr val="E8F0FC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1143000"/>
            <a:ext cx="3858768" cy="8686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E3F92"/>
                </a:solidFill>
                <a:latin typeface="Arial"/>
              </a:rPr>
              <a:t>Tầng A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E3F92"/>
                </a:solidFill>
                <a:latin typeface="Arial"/>
              </a:rPr>
              <a:t>F = log P(câu trả lời)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E3F92"/>
                </a:solidFill>
                <a:latin typeface="Arial"/>
              </a:rPr>
              <a:t>baseline: xóa mọi đoạn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143000"/>
            <a:ext cx="3931920" cy="868680"/>
          </a:xfrm>
          <a:prstGeom prst="roundRect">
            <a:avLst>
              <a:gd name="adj" fmla="val 14736"/>
            </a:avLst>
          </a:prstGeom>
          <a:solidFill>
            <a:srgbClr val="E8F0FC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0336" y="1143000"/>
            <a:ext cx="3858768" cy="8686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E3F92"/>
                </a:solidFill>
                <a:latin typeface="Arial"/>
              </a:rPr>
              <a:t>Tầng B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E3F92"/>
                </a:solidFill>
                <a:latin typeface="Arial"/>
              </a:rPr>
              <a:t>F</a:t>
            </a:r>
            <a:r>
              <a:rPr sz="1400" b="1" baseline="-25000">
                <a:solidFill>
                  <a:srgbClr val="0E3F92"/>
                </a:solidFill>
                <a:latin typeface="Arial"/>
              </a:rPr>
              <a:t>B</a:t>
            </a:r>
            <a:r>
              <a:rPr sz="1400" b="1">
                <a:solidFill>
                  <a:srgbClr val="0E3F92"/>
                </a:solidFill>
                <a:latin typeface="Arial"/>
              </a:rPr>
              <a:t> = log p(node)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E3F92"/>
                </a:solidFill>
                <a:latin typeface="Arial"/>
              </a:rPr>
              <a:t>baseline: tắt mọi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298448"/>
            <a:ext cx="1828800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02936" y="1298448"/>
            <a:ext cx="1755648" cy="5486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2000" b="1">
                <a:solidFill>
                  <a:srgbClr val="0E3F92"/>
                </a:solidFill>
                <a:latin typeface="Arial"/>
              </a:rPr>
              <a:t>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83480" y="1522476"/>
            <a:ext cx="164592" cy="10058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7022592" y="1522476"/>
            <a:ext cx="164592" cy="100584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901952"/>
            <a:ext cx="2468880" cy="27432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888888"/>
                </a:solidFill>
                <a:latin typeface="Arial"/>
              </a:rPr>
              <a:t>tập đích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14600"/>
            <a:ext cx="5349240" cy="2340864"/>
          </a:xfrm>
          <a:prstGeom prst="roundRect">
            <a:avLst>
              <a:gd name="adj" fmla="val 5468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251460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25328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Hợp lệ 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1" y="2916936"/>
            <a:ext cx="5166359" cy="188366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Nối một tập.</a:t>
            </a:r>
          </a:p>
          <a:p>
            <a:pPr algn="l">
              <a:spcAft>
                <a:spcPts val="300"/>
              </a:spcAft>
            </a:pPr>
            <a:endParaRPr sz="14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 là đầu ra của tầng A và là đầu vào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(đích) của tầng B. Một tập hợp đi qua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ranh giới thì không mang theo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đơn vị đo nào.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514600"/>
            <a:ext cx="5349240" cy="2340864"/>
          </a:xfrm>
          <a:prstGeom prst="roundRect">
            <a:avLst>
              <a:gd name="adj" fmla="val 5468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9632" y="2514600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2697480"/>
            <a:ext cx="5349240" cy="146304"/>
          </a:xfrm>
          <a:prstGeom prst="rect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6208" y="25328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Vô nghĩa  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2916936"/>
            <a:ext cx="5166359" cy="188366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Nhân hai điểm số.</a:t>
            </a:r>
          </a:p>
          <a:p>
            <a:pPr algn="l">
              <a:spcAft>
                <a:spcPts val="300"/>
              </a:spcAft>
            </a:pPr>
            <a:endParaRPr sz="14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F và F_B có mục tiêu khác nhau và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baseline khác nhau, nên chuỗi tính đầy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đủ không bắc cầu. Không có bất biến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nào nối tầng A với tầng 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513832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513832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5696712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" y="5532120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52160"/>
            <a:ext cx="1069848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Nối tập, đừng nhân điểm. Trên giao diện thì hiển thị hai cột riêng.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§6,  phụ lục §1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" rIns="73152" bIns="18288" rtlCol="0" anchor="ctr"/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Dùng hai tầng làm tín hiệu train retriever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29/33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87552"/>
            <a:ext cx="3429000" cy="2295144"/>
          </a:xfrm>
          <a:prstGeom prst="roundRect">
            <a:avLst>
              <a:gd name="adj" fmla="val 5577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987552"/>
            <a:ext cx="342900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70432"/>
            <a:ext cx="342900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005840"/>
            <a:ext cx="333756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</a:t>
            </a:r>
            <a:r>
              <a:rPr sz="1500" b="1" baseline="-25000">
                <a:solidFill>
                  <a:srgbClr val="FFFFFF"/>
                </a:solidFill>
                <a:latin typeface="Arial"/>
              </a:rPr>
              <a:t>node</a:t>
            </a:r>
            <a:r>
              <a:rPr sz="1500" b="1">
                <a:solidFill>
                  <a:srgbClr val="FFFFFF"/>
                </a:solidFill>
                <a:latin typeface="Arial"/>
              </a:rPr>
              <a:t>   ←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1389888"/>
            <a:ext cx="3246120" cy="183794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«node nào đúng»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Thay nhãn cũ «đoạn có chứa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chuỗi đáp án» — nhãn cũ đầy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dương tính giả.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Không đổi kiến trúc.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987552"/>
            <a:ext cx="3429000" cy="2295144"/>
          </a:xfrm>
          <a:prstGeom prst="roundRect">
            <a:avLst>
              <a:gd name="adj" fmla="val 5577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70832" y="987552"/>
            <a:ext cx="342900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170432"/>
            <a:ext cx="342900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1005840"/>
            <a:ext cx="333756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</a:t>
            </a:r>
            <a:r>
              <a:rPr sz="1500" b="1" baseline="-25000">
                <a:solidFill>
                  <a:srgbClr val="FFFFFF"/>
                </a:solidFill>
                <a:latin typeface="Arial"/>
              </a:rPr>
              <a:t>hop</a:t>
            </a:r>
            <a:r>
              <a:rPr sz="1500" b="1">
                <a:solidFill>
                  <a:srgbClr val="FFFFFF"/>
                </a:solidFill>
                <a:latin typeface="Arial"/>
              </a:rPr>
              <a:t>   ← 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1389888"/>
            <a:ext cx="3246120" cy="183794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«đi tới đó bằng lối nào»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Giám sát trung gian từng tầng,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vá chỗ credit assignment bị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đứt qua L bước.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Thêm một head nhỏ mỗi tầng,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và bắt buộc lấy mẫu âm.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987552"/>
            <a:ext cx="3429000" cy="2295144"/>
          </a:xfrm>
          <a:prstGeom prst="roundRect">
            <a:avLst>
              <a:gd name="adj" fmla="val 5577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10727" y="987552"/>
            <a:ext cx="342900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0727" y="1170432"/>
            <a:ext cx="342900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47303" y="1005840"/>
            <a:ext cx="333756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</a:t>
            </a:r>
            <a:r>
              <a:rPr sz="1500" b="1" baseline="-25000">
                <a:solidFill>
                  <a:srgbClr val="FFFFFF"/>
                </a:solidFill>
                <a:latin typeface="Arial"/>
              </a:rPr>
              <a:t>edge</a:t>
            </a:r>
            <a:r>
              <a:rPr sz="1500" b="1">
                <a:solidFill>
                  <a:srgbClr val="FFFFFF"/>
                </a:solidFill>
                <a:latin typeface="Arial"/>
              </a:rPr>
              <a:t>   ← IG cạnh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389888"/>
            <a:ext cx="3246120" cy="1837943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«cạnh nào nên mở»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Dạy trực tiếp cho gate phụ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thuộc truy vấn.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Cần module gate — đổi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kiến trúc, làm sau cùng.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64992"/>
            <a:ext cx="10881360" cy="3200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E8772E"/>
                </a:solidFill>
                <a:latin typeface="Arial"/>
              </a:rPr>
              <a:t>Cả ba loss đọc từ một lượt forward, nên chi phí train không nhân ba. Cả ba cũng cập nhật chung một mạng.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85615"/>
            <a:ext cx="5349240" cy="2020824"/>
          </a:xfrm>
          <a:prstGeom prst="roundRect">
            <a:avLst>
              <a:gd name="adj" fmla="val 6334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" y="3785615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968496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3803903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Thứ tự bị ép bởi phụ thuộc dữ liệu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1" y="4187952"/>
            <a:ext cx="5166359" cy="156362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L_node   cần T   có sẵn, không phụ thuộc model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L_hop    cần Π   Π đào bằng IG trên model hiện tại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L_edge   cần ĝ   cần kiến trúc gate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Nên: train L_node tới hội tụ → chẩn đoán → mới thêm.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785615"/>
            <a:ext cx="5349240" cy="2020824"/>
          </a:xfrm>
          <a:prstGeom prst="roundRect">
            <a:avLst>
              <a:gd name="adj" fmla="val 6334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99632" y="3785615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99632" y="3968496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6208" y="3803903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Hai chỗ dễ sai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4187952"/>
            <a:ext cx="5166359" cy="156362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Bộ lọc  chỉ áp L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hop</a:t>
            </a:r>
            <a:r>
              <a:rPr sz="1300" b="0">
                <a:solidFill>
                  <a:srgbClr val="333333"/>
                </a:solidFill>
                <a:latin typeface="Arial"/>
              </a:rPr>
              <a:t> / L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edge</a:t>
            </a:r>
            <a:r>
              <a:rPr sz="1300" b="0">
                <a:solidFill>
                  <a:srgbClr val="333333"/>
                </a:solidFill>
                <a:latin typeface="Arial"/>
              </a:rPr>
              <a:t> khi model đang xếp sai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và đường đã kiểm — điều kiện tự co lại khi model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khá lên, không cần lịch giảm λ.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Miền cộng  L</a:t>
            </a:r>
            <a:r>
              <a:rPr sz="1300" b="0" baseline="-25000">
                <a:solidFill>
                  <a:srgbClr val="333333"/>
                </a:solidFill>
                <a:latin typeface="Arial"/>
              </a:rPr>
              <a:t>hop</a:t>
            </a:r>
            <a:r>
              <a:rPr sz="1300" b="0">
                <a:solidFill>
                  <a:srgbClr val="333333"/>
                </a:solidFill>
                <a:latin typeface="Arial"/>
              </a:rPr>
              <a:t> cộng hết thì dương/âm ≈ 10 trên 10⁷.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Phải lấy mẫu âm; âm khó nhất là đúng node, sai tầng.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§6.2 – §6.4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Ba hàm mất mát — công thức đầy đủ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30/33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0908792" cy="2107692"/>
          </a:xfrm>
          <a:prstGeom prst="roundRect">
            <a:avLst>
              <a:gd name="adj" fmla="val 607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914400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932688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 = L_node + λ₁·L_hop + λ₂·L_edge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298448"/>
            <a:ext cx="10689336" cy="1778508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L_node = - tổng</a:t>
            </a:r>
            <a:r>
              <a:rPr sz="1300" b="0" baseline="-25000">
                <a:solidFill>
                  <a:srgbClr val="333333"/>
                </a:solidFill>
                <a:latin typeface="Consolas"/>
              </a:rPr>
              <a:t>D thuộc T</a:t>
            </a:r>
            <a:r>
              <a:rPr sz="1300" b="0">
                <a:solidFill>
                  <a:srgbClr val="333333"/>
                </a:solidFill>
                <a:latin typeface="Consolas"/>
              </a:rPr>
              <a:t> w(D) * log p(D)  -  tổng</a:t>
            </a:r>
            <a:r>
              <a:rPr sz="1300" b="0" baseline="-25000">
                <a:solidFill>
                  <a:srgbClr val="333333"/>
                </a:solidFill>
                <a:latin typeface="Consolas"/>
              </a:rPr>
              <a:t>v thuộc V_neg</a:t>
            </a:r>
            <a:r>
              <a:rPr sz="1300" b="0">
                <a:solidFill>
                  <a:srgbClr val="333333"/>
                </a:solidFill>
                <a:latin typeface="Consolas"/>
              </a:rPr>
              <a:t> log( 1 - p(v) )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L_hop  = tổng</a:t>
            </a:r>
            <a:r>
              <a:rPr sz="1300" b="0" baseline="-25000">
                <a:solidFill>
                  <a:srgbClr val="333333"/>
                </a:solidFill>
                <a:latin typeface="Consolas"/>
              </a:rPr>
              <a:t>l=1..L</a:t>
            </a:r>
            <a:r>
              <a:rPr sz="1300" b="0">
                <a:solidFill>
                  <a:srgbClr val="333333"/>
                </a:solidFill>
                <a:latin typeface="Consolas"/>
              </a:rPr>
              <a:t>  tổng</a:t>
            </a:r>
            <a:r>
              <a:rPr sz="1300" b="0" baseline="-25000">
                <a:solidFill>
                  <a:srgbClr val="333333"/>
                </a:solidFill>
                <a:latin typeface="Consolas"/>
              </a:rPr>
              <a:t>v thuộc V_hop(l)</a:t>
            </a:r>
            <a:r>
              <a:rPr sz="1300" b="0">
                <a:solidFill>
                  <a:srgbClr val="333333"/>
                </a:solidFill>
                <a:latin typeface="Consolas"/>
              </a:rPr>
              <a:t>  BCE( p^(l)(v),  1[ (v,l) thuộc Pi ] )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L_edge = tổng</a:t>
            </a:r>
            <a:r>
              <a:rPr sz="1300" b="0" baseline="-25000">
                <a:solidFill>
                  <a:srgbClr val="333333"/>
                </a:solidFill>
                <a:latin typeface="Consolas"/>
              </a:rPr>
              <a:t>(e,l)</a:t>
            </a:r>
            <a:r>
              <a:rPr sz="1300" b="0">
                <a:solidFill>
                  <a:srgbClr val="333333"/>
                </a:solidFill>
                <a:latin typeface="Consolas"/>
              </a:rPr>
              <a:t>  BCE( g^_e^(l),  w^_e^(l) )        w^ = IG chuẩn hóa ve [0,1]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Cả ba đọc từ một lượt forward -&gt; chi phí train không nhân ba.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99232"/>
            <a:ext cx="5349240" cy="1764791"/>
          </a:xfrm>
          <a:prstGeom prst="roundRect">
            <a:avLst>
              <a:gd name="adj" fmla="val 725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999232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182112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3017520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V_hop(l) — bắt buộc lấy mẫu âm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383279"/>
            <a:ext cx="5129783" cy="1435607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V_hop(l) = { v : (v,l)  thuộc Pi }       dương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   U { v : (v,l') thuộc Pi, l'!=l }  âm khó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   U V_neg                           âm thường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Cộng trên mọi (v,l): đường/am ~ 10 : 10^7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-&gt; "luôn đoán 0" đã gần tối ưu, loss đứng yên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999232"/>
            <a:ext cx="5349240" cy="1764791"/>
          </a:xfrm>
          <a:prstGeom prst="roundRect">
            <a:avLst>
              <a:gd name="adj" fmla="val 7253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99632" y="2999232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3182112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36208" y="3017520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Bộ lọc, và ngưỡng theo từng ví dụ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383279"/>
            <a:ext cx="5129783" cy="1435607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Chỉ áp L_hop / L_edge khi thỏa cả ba: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D thuộc 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rank_GFM(D) &gt; k_top(q)     model đang xếp sai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suff(Pi_D) ≥ theta_s       đường đã kiểm chứng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333333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k_top(q) = ceil( beta × |T(q)| ),  beta ~ 1.5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38928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5138928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5321808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5157216"/>
            <a:ext cx="1078992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Âm khó — đúng node, sai tầng — mới là nhóm dạy được thời điểm, thứ nhãn ở tầng cuối mù hoàn toàn.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§6.3, §6.4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18288" rIns="73152" bIns="18288" rtlCol="0" anchor="ctr"/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Bảng chẩn đoán — và nó cũng chính là nguồn nhãn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31/33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Hai đại lượng, đo hai thứ hoàn toàn độc lập nhau — nên xếp thành hai trục, không phải một danh sách.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389888"/>
            <a:ext cx="4160520" cy="32918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3F92"/>
                </a:solidFill>
                <a:latin typeface="Arial"/>
              </a:rPr>
              <a:t>rank ≤ k_top(q)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0E3F92"/>
                </a:solidFill>
                <a:latin typeface="Arial"/>
              </a:rPr>
              <a:t>model lấy được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1389888"/>
            <a:ext cx="4160520" cy="32918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3F92"/>
                </a:solidFill>
                <a:latin typeface="Arial"/>
              </a:rPr>
              <a:t>rank &gt; k_top(q)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0E3F92"/>
                </a:solidFill>
                <a:latin typeface="Arial"/>
              </a:rPr>
              <a:t>model bỏ sót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600200" cy="8412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0E3F92"/>
                </a:solidFill>
                <a:latin typeface="Arial"/>
              </a:rPr>
              <a:t>suff ≥ θ</a:t>
            </a:r>
            <a:r>
              <a:rPr sz="1300" b="1" baseline="-25000">
                <a:solidFill>
                  <a:srgbClr val="0E3F92"/>
                </a:solidFill>
                <a:latin typeface="Arial"/>
              </a:rPr>
              <a:t>s</a:t>
            </a:r>
          </a:p>
          <a:p>
            <a:pPr algn="r">
              <a:spcAft>
                <a:spcPts val="0"/>
              </a:spcAft>
            </a:pPr>
            <a:r>
              <a:rPr sz="1300" b="1">
                <a:solidFill>
                  <a:srgbClr val="0E3F92"/>
                </a:solidFill>
                <a:latin typeface="Arial"/>
              </a:rPr>
              <a:t>có lối, đã kiểm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34056"/>
            <a:ext cx="1600200" cy="8412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0E3F92"/>
                </a:solidFill>
                <a:latin typeface="Arial"/>
              </a:rPr>
              <a:t>suff &lt; θ</a:t>
            </a:r>
            <a:r>
              <a:rPr sz="1300" b="1" baseline="-25000">
                <a:solidFill>
                  <a:srgbClr val="0E3F92"/>
                </a:solidFill>
                <a:latin typeface="Arial"/>
              </a:rPr>
              <a:t>s</a:t>
            </a:r>
          </a:p>
          <a:p>
            <a:pPr algn="r">
              <a:spcAft>
                <a:spcPts val="0"/>
              </a:spcAft>
            </a:pPr>
            <a:r>
              <a:rPr sz="1300" b="1">
                <a:solidFill>
                  <a:srgbClr val="0E3F92"/>
                </a:solidFill>
                <a:latin typeface="Arial"/>
              </a:rPr>
              <a:t>không lối nào đủ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783080"/>
            <a:ext cx="4160520" cy="841248"/>
          </a:xfrm>
          <a:prstGeom prst="rect">
            <a:avLst/>
          </a:prstGeom>
          <a:solidFill>
            <a:srgbClr val="E8F0FC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1783080"/>
            <a:ext cx="3977639" cy="8412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ổn — không cần làm gì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79" y="1783080"/>
            <a:ext cx="4160520" cy="841248"/>
          </a:xfrm>
          <a:prstGeom prst="rect">
            <a:avLst/>
          </a:prstGeom>
          <a:solidFill>
            <a:srgbClr val="E8F0FC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19" y="1783080"/>
            <a:ext cx="3977639" cy="8412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E3F92"/>
                </a:solidFill>
                <a:latin typeface="Arial"/>
              </a:rPr>
              <a:t>lỗi model  →  tập S</a:t>
            </a:r>
            <a:r>
              <a:rPr sz="1300" b="1" baseline="-25000">
                <a:solidFill>
                  <a:srgbClr val="0E3F92"/>
                </a:solidFill>
                <a:latin typeface="Arial"/>
              </a:rPr>
              <a:t>k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E3F92"/>
                </a:solidFill>
                <a:latin typeface="Arial"/>
              </a:rPr>
              <a:t>đường tồn tại mà model không đi;  Π, ŵ là nhãn train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734056"/>
            <a:ext cx="4160520" cy="841248"/>
          </a:xfrm>
          <a:prstGeom prst="rect">
            <a:avLst/>
          </a:prstGeom>
          <a:solidFill>
            <a:srgbClr val="FDEEE3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23160" y="3036186"/>
            <a:ext cx="3977639" cy="2369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dirty="0">
                <a:solidFill>
                  <a:srgbClr val="E8772E"/>
                </a:solidFill>
                <a:latin typeface="Arial"/>
              </a:rPr>
              <a:t>model </a:t>
            </a:r>
            <a:r>
              <a:rPr sz="1300" b="1" dirty="0" err="1">
                <a:solidFill>
                  <a:srgbClr val="E8772E"/>
                </a:solidFill>
                <a:latin typeface="Arial"/>
              </a:rPr>
              <a:t>đúng</a:t>
            </a:r>
            <a:r>
              <a:rPr sz="1300" b="1" dirty="0">
                <a:solidFill>
                  <a:srgbClr val="E8772E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E8772E"/>
                </a:solidFill>
                <a:latin typeface="Arial"/>
              </a:rPr>
              <a:t>mà</a:t>
            </a:r>
            <a:r>
              <a:rPr sz="1300" b="1" dirty="0">
                <a:solidFill>
                  <a:srgbClr val="E8772E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E8772E"/>
                </a:solidFill>
                <a:latin typeface="Arial"/>
              </a:rPr>
              <a:t>không</a:t>
            </a:r>
            <a:r>
              <a:rPr sz="1300" b="1" dirty="0">
                <a:solidFill>
                  <a:srgbClr val="E8772E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E8772E"/>
                </a:solidFill>
                <a:latin typeface="Arial"/>
              </a:rPr>
              <a:t>lối</a:t>
            </a:r>
            <a:r>
              <a:rPr sz="1300" b="1" dirty="0">
                <a:solidFill>
                  <a:srgbClr val="E8772E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E8772E"/>
                </a:solidFill>
                <a:latin typeface="Arial"/>
              </a:rPr>
              <a:t>nào</a:t>
            </a:r>
            <a:r>
              <a:rPr sz="1300" b="1" dirty="0">
                <a:solidFill>
                  <a:srgbClr val="E8772E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E8772E"/>
                </a:solidFill>
                <a:latin typeface="Arial"/>
              </a:rPr>
              <a:t>giải</a:t>
            </a:r>
            <a:r>
              <a:rPr sz="1300" b="1" dirty="0">
                <a:solidFill>
                  <a:srgbClr val="E8772E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E8772E"/>
                </a:solidFill>
                <a:latin typeface="Arial"/>
              </a:rPr>
              <a:t>thích</a:t>
            </a:r>
            <a:r>
              <a:rPr sz="1300" b="1" dirty="0">
                <a:solidFill>
                  <a:srgbClr val="E8772E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E8772E"/>
                </a:solidFill>
                <a:latin typeface="Arial"/>
              </a:rPr>
              <a:t>nổi</a:t>
            </a:r>
            <a:endParaRPr sz="1300" b="1" dirty="0">
              <a:solidFill>
                <a:srgbClr val="E8772E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583679" y="2734056"/>
            <a:ext cx="4160520" cy="841248"/>
          </a:xfrm>
          <a:prstGeom prst="rect">
            <a:avLst/>
          </a:prstGeom>
          <a:solidFill>
            <a:srgbClr val="E8F0FC"/>
          </a:solidFill>
          <a:ln w="1270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19" y="2734056"/>
            <a:ext cx="3977639" cy="8412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lỗi đồ thị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bổ sung cạnh lúc xây graph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67328"/>
            <a:ext cx="5349240" cy="1655064"/>
          </a:xfrm>
          <a:prstGeom prst="roundRect">
            <a:avLst>
              <a:gd name="adj" fmla="val 7734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3767328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950208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3785615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Nó chạy ở mỗi mốc, không phải một lần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1" y="4169664"/>
            <a:ext cx="5166359" cy="119786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mốc 0   đào T → train L_node tới hội tụ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mốc 1   ▸ bảng chẩn đoán ◂ → ô «lỗi model» = S₁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          → train L_node + λ₁·L_hop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mốc 2   ▸ bảng chẩn đoán ◂ → thêm gate, L_edge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767328"/>
            <a:ext cx="5349240" cy="1655064"/>
          </a:xfrm>
          <a:prstGeom prst="roundRect">
            <a:avLst>
              <a:gd name="adj" fmla="val 7734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99632" y="3767328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9632" y="3950208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3785615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Một lần chạy, hai cách đọc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4169664"/>
            <a:ext cx="5166359" cy="119786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báo cáo   phân bố các ô = tiến độ của đợt train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              vừa xong</a:t>
            </a:r>
          </a:p>
          <a:p>
            <a:pPr algn="l">
              <a:spcAft>
                <a:spcPts val="300"/>
              </a:spcAft>
            </a:pPr>
            <a:endParaRPr sz="1300" b="0">
              <a:solidFill>
                <a:srgbClr val="333333"/>
              </a:solidFill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nguồn nhãn   ô «lỗi model» chính là tập ví dụ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                       để đào Π và ŵ cho đợt tới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13832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5513832"/>
            <a:ext cx="10908792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696712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" y="5532120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Điểm chốt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52160"/>
            <a:ext cx="1069848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Chẩn đoán và đào nhãn là cùng một thao tác — chỉ khác cách đọc kết quả.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§6.1, §6.5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43360" cy="77724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Chi phí — và vì sao phải hai pha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Chi phí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32/33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000" b="0">
                <a:solidFill>
                  <a:srgbClr val="0E3F92"/>
                </a:solidFill>
                <a:latin typeface="Arial"/>
              </a:rPr>
              <a:t>Chi tiết: §7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914400"/>
            <a:ext cx="5349240" cy="2017532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91440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Một truy vấn, pipeline đầy đủ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298448"/>
            <a:ext cx="5111496" cy="150546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cost(S) ≈ 500 + 250·|S| — các lượt KHÔNG bằng giá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vòng 0  v(∅)+v(R)+v(C)+40 singleton    44.500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vòng 1  (r−1)·m = 24 lượt              27.000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vòng 2  ~30 lượt                       37.000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vòng 3  1 + 6 lượt                      6.500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                           ────────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                            115.000  ≈ $0,35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914400"/>
            <a:ext cx="5349240" cy="2017532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9632" y="91440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09728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93268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Quy mô thật — 200.000 truy vấn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298448"/>
            <a:ext cx="5111496" cy="150546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pha 1  18.200 nạp → 10.000 chạy =   $3.800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pha 2 200.000 nạp → 110.000     =   $7.500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cứu     3.000 ca × $0,34        =   $1.000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                   ─────────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hiệu chuẩn 500 HotpotQA         =     $185
                               $12.485   ~104k nhãn ĐÁNG TIN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chạy pipeline đầy đủ cả 200k   $76.000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6 lần rẻ hơn — nhờ bỏ vòng 0 và cửa thoát C0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41660"/>
            <a:ext cx="5349240" cy="2017532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304166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22454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305994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v(C) nặng nhất, và đó là đúng giá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425708"/>
            <a:ext cx="5111496" cy="150546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C0  chẻ + bảng phủ           400 token    2%
C1  v(∅)                     500 token    2%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C3  v(R)                   3.500 token   16%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C4  v(C)                  10.500 token   47%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C6  verification           7.400 token   33%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22.300 chạy đủ · 12.400 kỳ vọng (45% thoát)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Bù v(C) bằng hằng số → ~10% truy vấn bị trần thấp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→ nhãn sai mà verification KHÔNG bắt được.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041660"/>
            <a:ext cx="5349240" cy="2017532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99632" y="3041660"/>
            <a:ext cx="5349240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9632" y="3224540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6208" y="3059948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Sổ dữ liệu — 2,61 triệu mẫu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25708"/>
            <a:ext cx="5111496" cy="150546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pha 1, bốn vòng      10.000 ×111 = 1.110.000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verification pha 2  110.000 × 10 = 1.100.000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cứu                   3.000 ×111 =   333.000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trượt bị bỏ          14.000 ×  5 =    70.000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thoát ở C0           98.200 ×  0 =         0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                         ─────────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                                   2.613.000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168920"/>
            <a:ext cx="10908792" cy="942197"/>
          </a:xfrm>
          <a:prstGeom prst="roundRect">
            <a:avLst>
              <a:gd name="adj" fmla="val 68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5168920"/>
            <a:ext cx="10908792" cy="329184"/>
          </a:xfrm>
          <a:prstGeom prst="roundRect">
            <a:avLst>
              <a:gd name="adj" fmla="val 38900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5351800"/>
            <a:ext cx="10908792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" y="5187208"/>
            <a:ext cx="10817352" cy="29260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Bảng này chưa được kiểm chứng — nói thẳng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552968"/>
            <a:ext cx="10671048" cy="430133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p = 0,75 là GIẢ ĐỊNH, chưa đo, mà toàn bộ cột chi phí treo vào nó. «30% mỗi lần thử lại» và «~4% có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|S*| ≥ 6» cũng là giả định. Cổng B3 tồn tại chính vì ba con số đó — và nó miễn phí, nên phải chạy TRƯỚC.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2608" rtlCol="0" anchor="ctr"/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Phạm vi đóng góp và những gì chưa chắc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640080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Kết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83680"/>
            <a:ext cx="17373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33/33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87552"/>
            <a:ext cx="5349240" cy="2843784"/>
          </a:xfrm>
          <a:prstGeom prst="roundRect">
            <a:avLst>
              <a:gd name="adj" fmla="val 4501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987552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70432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005840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Từ literature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1389888"/>
            <a:ext cx="5166359" cy="238658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Deegan–Packel  ·  Public Good Index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Banzhaf  (ở đây dùng bản có dấu)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Integrated Gradients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Mở rộng đa tuyến tính  →  tính chất c/h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PDist / LOOP của Atlas  (JMLR 2023)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GFM-RAG, G-reasoner  (NeurIPS 2025 / 2025)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Mask cạnh để giải thích GNN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987552"/>
            <a:ext cx="5349240" cy="2843784"/>
          </a:xfrm>
          <a:prstGeom prst="roundRect">
            <a:avLst>
              <a:gd name="adj" fmla="val 4501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2" y="987552"/>
            <a:ext cx="5349240" cy="329184"/>
          </a:xfrm>
          <a:prstGeom prst="roundRect">
            <a:avLst>
              <a:gd name="adj" fmla="val 38888"/>
            </a:avLst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170432"/>
            <a:ext cx="5349240" cy="146304"/>
          </a:xfrm>
          <a:prstGeom prst="rect">
            <a:avLst/>
          </a:prstGeom>
          <a:solidFill>
            <a:srgbClr val="0E3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005840"/>
            <a:ext cx="5257800" cy="29260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Đề xuất trong tài liệu này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389888"/>
            <a:ext cx="5166359" cy="2386584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Surrogate ở biên + beam search thay cho 2</a:t>
            </a:r>
            <a:r>
              <a:rPr sz="1400" b="0" baseline="30000">
                <a:solidFill>
                  <a:srgbClr val="333333"/>
                </a:solidFill>
                <a:latin typeface="Arial"/>
              </a:rPr>
              <a:t>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Banzhaf có dấu để bắt đoạn đẩy ngược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IG gắn vào gate cạnh thay vì embedding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Gate riêng từng tầng, và gate phụ thuộc truy vấn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max-sum trên DAG trải phẳng (thay min-cost)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Greedy xóa cạnh + tỉa ngược cho hội tụ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Tập đủ tối tiểu làm nhãn train retriever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91072"/>
            <a:ext cx="10058400" cy="25603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E3F92"/>
                </a:solidFill>
                <a:latin typeface="Arial"/>
              </a:rPr>
              <a:t>Chi tiết: §1 «Phạm vi đóng góp», §3.10, §8, §6.7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9412</Words>
  <Application>Microsoft Office PowerPoint</Application>
  <PresentationFormat>Widescreen</PresentationFormat>
  <Paragraphs>956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Pham Quang Vu 202416767</cp:lastModifiedBy>
  <cp:revision>10</cp:revision>
  <dcterms:created xsi:type="dcterms:W3CDTF">2013-01-27T09:14:16Z</dcterms:created>
  <dcterms:modified xsi:type="dcterms:W3CDTF">2026-10-11T15:06:40Z</dcterms:modified>
  <cp:category/>
</cp:coreProperties>
</file>